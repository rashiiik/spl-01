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97" r:id="rId1"/>
  </p:sldMasterIdLst>
  <p:sldIdLst>
    <p:sldId id="256" r:id="rId2"/>
    <p:sldId id="257" r:id="rId3"/>
    <p:sldId id="258" r:id="rId4"/>
    <p:sldId id="259" r:id="rId5"/>
    <p:sldId id="270" r:id="rId6"/>
    <p:sldId id="271" r:id="rId7"/>
    <p:sldId id="272" r:id="rId8"/>
    <p:sldId id="273" r:id="rId9"/>
    <p:sldId id="274" r:id="rId10"/>
    <p:sldId id="275" r:id="rId11"/>
    <p:sldId id="26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973D2C-B445-4D4F-8285-7813DFC89A13}" v="602" dt="2026-04-21T11:22:05.510"/>
    <p1510:client id="{488E703F-2AAE-4CA2-9D7F-913A7868A261}" v="1" dt="2026-04-22T08:01:33.764"/>
    <p1510:client id="{C80B5902-B20A-473D-9BB6-CCCB6DBB60AA}" v="1702" dt="2026-04-21T18:55:11.639"/>
    <p1510:client id="{F0DC17BF-4D7D-4315-BDDB-5A0CB81CCDB1}" v="535" dt="2026-04-22T07:58:59.6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6847D-1CF6-46BA-B46B-48BED0604A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 cap="all" spc="1500" baseline="0">
                <a:latin typeface="+mj-lt"/>
                <a:ea typeface="Source Sans Pro SemiBold" panose="020B06030304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B4F5A5-C931-4A4C-B6B1-EF4C95965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cap="all" spc="4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8A351602-3772-4279-B0D3-A523F6F6EAB3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5AAAA75-5FFB-4C07-AD4A-3146773E6CDD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479895E-3847-44BB-8404-28F14219FB70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0E02F68-8149-4236-8D9F-6B550F78B932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56FCAAB-F073-4561-A484-42C7DD10DC26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CF8DB94-87A3-43E9-9BBB-301CFF0FB05B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DE4AEC-B6E4-439C-B716-EBE3D4D1D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FF81C-1FCB-4DBA-8044-F1A0FCFD45A6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8BC18-102E-45BF-8FEA-801E9C59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8BF5F-B1F8-461F-9B3D-7D50D0242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D6BF779-0B8C-4CC2-9268-9506AD0C5331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308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88500-1605-41EA-A15F-9B79DF7E4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B14AC8-25A5-4D7F-BF23-CB20AA2ECF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8997F1B7-1EE7-4EA5-A5A4-866F9A810C9F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5E13483-2FB6-4753-8402-06FDC3498E06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8F0DF22-F640-4002-B783-DF1C6A9473F6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C2787B8-7984-4332-B611-D3D3DE898FE0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AF3646C-B3D7-4F57-8FD2-CD93CEB39214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65FA7DA-93A0-43A4-834C-0F1BB9806A8C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95D22-0146-4DE2-9E78-4C00333D4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7773D-8987-489A-A650-3D6F7D5C7C38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9717A-A1FE-485D-AFFF-2C7026C71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DB88B-64CF-4100-8F07-D191DD793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04332FF-8349-42A5-B5C8-5EE3825CE252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56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BFE6C-EBF1-47DE-8468-E7125172B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104992-D139-48DC-BCCE-D71EA23CA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A8C5E768-0E62-4DE7-A0AF-93121DA8439E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402845F-9E8A-41E1-B051-1AAA46C997A2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A45C410-5FD0-4339-A3BC-A865DE4190AF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7B0B703-8BA8-483C-A433-C44C809687DE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CCFA03D-B879-419B-88B9-F4F3645C8AF5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B0260A-6B2D-4F54-8614-60BC3103E166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AB8F6-0796-47E9-B1D4-760B7CCFC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50C1-1D78-4D80-810D-E9E86F6E88AB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6FC0-7327-44D9-B689-0AE73FD25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9D265-BFBA-4C93-9B1A-B9483AE6B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64F5FEB-DE92-47DA-8C46-DC088E8960A4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542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637BE-B22F-40EE-94F0-04549BC56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71582-4BAF-4211-AD4A-476ED6EB11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9DCF6B-C800-4345-BAE9-EE9FA6590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E6190A1E-5381-43C4-B058-7758339984D6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7E35469-0BEA-4E5E-955F-1AA300A62DE5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8F650BE-565E-4A52-8143-7A87700FC5F5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86A3F89-AA2A-44E5-915E-C47A069EB685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C57F514-AB27-4489-8D3C-01DD1025DDAD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141169F-1C39-4D04-AF32-D0D14D004B05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087465-759F-4895-8FC6-DD464FB91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9CBD8-1588-4B6B-B74D-87480DDE94C0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F1AA18-D8A5-44D9-881C-522258ED5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1BA574-A76A-4F4C-8CBD-768278B6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793E083-ADC4-4391-83DD-781529A66110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205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1B666-D6BE-4FA8-9CF1-F15FD58B0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CE4B4A-DE64-4563-83CD-C40B1D681D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DA0314-0202-4E6D-8352-C28376A9C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B56083-87B4-4603-B6FF-A9EB68E3E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3708CF-F028-4917-A9CB-59BF5248A2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10" name="Graphic 185">
            <a:extLst>
              <a:ext uri="{FF2B5EF4-FFF2-40B4-BE49-F238E27FC236}">
                <a16:creationId xmlns:a16="http://schemas.microsoft.com/office/drawing/2014/main" id="{81B934BF-E239-47E1-93E9-EA3182162D21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3BBF177-5044-426A-93ED-64BDC84BF184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4270648-77F5-4D28-B691-DA57AA28FD73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086B770-2F70-4B7B-9525-286BBD63AD72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7DDC14D-7AE3-41CD-ADFC-A3601D4F9DF3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2181834-8401-4B66-85EE-1CBF57807DAB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33C091-3B62-4087-9A97-63BBE28CF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94440-721C-4D75-BD4F-4CFB3D51CDCA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710C3-2723-4847-BCAF-96D9FAE50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618B2C-95AC-4438-97FD-07ACF297B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6B0F5A7-6E8A-4BCD-8F1F-233ECD21B262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171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9CF7F-748D-4598-983E-96A2BE269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6" name="Graphic 185">
            <a:extLst>
              <a:ext uri="{FF2B5EF4-FFF2-40B4-BE49-F238E27FC236}">
                <a16:creationId xmlns:a16="http://schemas.microsoft.com/office/drawing/2014/main" id="{DFD4D3BE-80D4-4E69-9C76-F0D8517DF690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0B6E97F-00E1-4372-8978-8BCBDC9026E6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C7651B7-7A30-4AFA-A4D7-0B0C5D2DDAAF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D2FC5CA-556B-4409-B084-34753A1F04E6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E63FB41-EE1F-4889-9096-3A38936330D5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DD19F3B-7B3E-4861-8FDA-D0116C96C16E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0A2C46-C908-4010-AAE2-9FA41B14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01A64-483B-4532-94FB-D8F90CB6DEE0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CF5279-7D37-4D98-9A70-987C84F62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96FAD0-59EF-49AA-BBC6-A0EC184DD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76EB399-18D2-46D5-8757-35FCFF8EA80D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659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aphic 185">
            <a:extLst>
              <a:ext uri="{FF2B5EF4-FFF2-40B4-BE49-F238E27FC236}">
                <a16:creationId xmlns:a16="http://schemas.microsoft.com/office/drawing/2014/main" id="{773CCE17-EE0F-40E0-B7AE-CF7677B64709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0AC6C4E-6EA5-454A-AB84-8B94D8B585EC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4329338-925B-4677-BA6E-4357D37DB545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34C0A08-043F-4818-BA1D-BCC9F811A873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CB185DD-ED0D-4633-8098-95C4A6F177CC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AD50526-B611-40B6-BB45-AE82F0EF5992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08C302-4224-4668-8CAC-3267172A0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8FB39-20FB-4E2E-B861-45B709B9C3C5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C8FC22-AEB6-4BAF-BF93-41A2C757C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CA88A-5462-4F17-AFA0-52721ADDB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CCC791-94D7-4BB8-9EDF-423CEA1F6215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4124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6AC37-C5B5-462A-BE4A-E55CEBF2A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B007F-32A8-4688-BBEF-4FCB99DF5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F2E2EB-BF8A-44A4-8AE0-BD6C31B1D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FC9E188F-54C8-4547-9F8C-525712AD7DB6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99C4538-3939-47A9-A590-09FF21960653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541CA75-5D05-4996-A26D-CE0C909CD5F7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6305856-26BC-4BCC-BEF3-5E9CED941775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C69651C-AC37-4CD2-8367-19297D7E2389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3E9031B-BA8D-4D9D-9BB3-A16F7A80F854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840A2-CF60-4C47-B955-E65BC451F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8AC19-8BD6-476C-9770-8884373BCF00}" type="datetime1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79DC6E-CC55-47AB-A405-5FB7EE2D1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D5E7D-EBA7-4DB0-8C78-7EB8A85FA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5B051DE-636E-4B3C-9886-2055CE23E49A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7030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1D355-3146-41D1-B7DC-20B8ACE39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D4AAFB-E8F8-4FD1-8C6A-ED2C3FAD50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051AF1-B16F-43B9-95CC-C17B570DEC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C8B77273-9FF7-4B93-8385-AD09A5F86AE5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117A673-3729-4EAD-9E8C-52BEBF74B857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E8DB752-94CD-4A94-BDE3-DD285EB89F3F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2F8DDFC-E5CA-4F36-B2BE-BCE49D4F6C95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BB589AE-2F9C-4C83-8DC7-1205CB037525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AC9A2DE-3C9E-4CD0-8C7A-CC5F9F9942E4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8C8714-2467-4715-934E-6787C84F7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68C53-8AD1-4F09-9486-FB3406B99CFA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6F13D6-03EC-4D31-8BB1-9FFDE3633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65D4DD-A2A4-4DF6-9527-E5F12FEB9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D202F3A-9FDE-4E11-B865-FBAEC415F880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94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3A871-D377-4EC0-9ACF-86842F01E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D53202-92A9-45A3-B812-777DB9578B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7196FB0C-3A9D-4892-90C9-21F3459AAD9E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6938C96-CF0F-4B69-A695-913F11BFC6F0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CA7E6BB-6B60-4BF5-9D3E-A3FE782EF5B0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F693EDA-57B3-4AEB-863B-B198C2A5A8E3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3A04A96-045F-4B6E-AEEE-11A2FA01B4FC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FB357DC-5AD3-44F4-879B-5AD6B18AC36F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CA47F-83AD-4BE3-AC2F-6C17883F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092B3-2D87-4CDF-B84B-C46E5F5D31F7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18A72-3200-4597-A9C5-0D9ECFF3E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0055A-71D4-49B4-8A8F-19AFDB84E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B0E5D27-C447-432F-982D-B60FDD6F34AD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0828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C59DBB-9256-464D-8A6A-8BDA71541D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5E310-E6CB-4838-8E9B-B288DA552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BCF412A8-E798-47AD-ABD9-98D76A55D30B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70160C5-475D-401A-AEE2-2C04E99A1518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7CC7CE9-9C7F-49C2-8609-47BF523390F5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26FD5F1-978C-45AF-9086-D5DBE1F01681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873AB1C-723A-4FB4-9B23-65BAF5074833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1DE5510-5094-4FA4-96E5-AD4841D1C38A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E2202-679F-48B0-B2DD-F6F54711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69E57-47B1-47B0-B526-3153E4B1E729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BC83D-E4C0-49E1-ADA1-1AF403984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BF211E-B2EA-4CDC-9E84-B68983949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FE2F5FD-5D31-4C1D-82F8-93624C7B0A3C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842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33F5C3-CD4B-4472-B59A-49D460CB1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72236B-AB2C-4D6F-AE15-700992DA9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0F509-07BE-4446-8772-F44E09936B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cap="all" spc="100" baseline="0">
                <a:solidFill>
                  <a:schemeClr val="tx1">
                    <a:tint val="75000"/>
                  </a:schemeClr>
                </a:solidFill>
                <a:latin typeface="+mn-lt"/>
                <a:ea typeface="Source Sans Pro SemiBold" panose="020B0603030403020204" pitchFamily="34" charset="0"/>
              </a:defRPr>
            </a:lvl1pPr>
          </a:lstStyle>
          <a:p>
            <a:fld id="{BA543EDD-D0D2-447F-B24F-3717AF4B109D}" type="datetime1">
              <a:rPr lang="en-US" smtClean="0"/>
              <a:pPr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1B927E-3833-4F85-99B5-56B5F1E540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cap="all" spc="100" baseline="0">
                <a:solidFill>
                  <a:schemeClr val="tx1">
                    <a:tint val="75000"/>
                  </a:schemeClr>
                </a:solidFill>
                <a:latin typeface="+mn-lt"/>
                <a:ea typeface="Source Sans Pro SemiBold" panose="020B0603030403020204" pitchFamily="34" charset="0"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8CB64-4E98-43DE-B543-7BE5B329DB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cap="all" spc="100" baseline="0">
                <a:solidFill>
                  <a:schemeClr val="tx1">
                    <a:tint val="75000"/>
                  </a:schemeClr>
                </a:solidFill>
                <a:latin typeface="+mn-lt"/>
                <a:ea typeface="Source Sans Pro SemiBold" panose="020B0603030403020204" pitchFamily="34" charset="0"/>
              </a:defRPr>
            </a:lvl1pPr>
          </a:lstStyle>
          <a:p>
            <a:fld id="{F3450C42-9A0B-4425-92C2-70FCF7C457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787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2" r:id="rId1"/>
    <p:sldLayoutId id="2147484093" r:id="rId2"/>
    <p:sldLayoutId id="2147484094" r:id="rId3"/>
    <p:sldLayoutId id="2147484095" r:id="rId4"/>
    <p:sldLayoutId id="2147484096" r:id="rId5"/>
    <p:sldLayoutId id="2147484090" r:id="rId6"/>
    <p:sldLayoutId id="2147484086" r:id="rId7"/>
    <p:sldLayoutId id="2147484087" r:id="rId8"/>
    <p:sldLayoutId id="2147484088" r:id="rId9"/>
    <p:sldLayoutId id="2147484089" r:id="rId10"/>
    <p:sldLayoutId id="214748409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3A397E3E-B90C-4D82-BAAA-36F7AC6A4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A2B5CBEA-F125-49B6-8335-227C325B1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77454" y="3965691"/>
            <a:ext cx="3014546" cy="2892309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42B987A8-3C5A-4495-85A2-B7BBC3EAC2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77454" y="3965691"/>
            <a:ext cx="3014546" cy="2892309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C1D3151-5F97-4860-B56C-C98BD62CC2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46453" y="857546"/>
            <a:ext cx="6964685" cy="5402463"/>
          </a:xfrm>
          <a:prstGeom prst="rect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B32CDD2-9715-425B-9CCC-CF8CE92BE0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46453" y="857546"/>
            <a:ext cx="6964685" cy="5402463"/>
          </a:xfrm>
          <a:prstGeom prst="rect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8CF5E676-CA04-4CED-9F1E-5026ED66E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1"/>
            <a:ext cx="3799266" cy="4019910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B013C47-A4B4-4108-87AF-82C5CD7DFF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1"/>
            <a:ext cx="3799266" cy="4019910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8DE96824-E506-4448-8704-5EC7BF7BC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13658" y="727769"/>
            <a:ext cx="6964685" cy="540246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Graphic 212">
            <a:extLst>
              <a:ext uri="{FF2B5EF4-FFF2-40B4-BE49-F238E27FC236}">
                <a16:creationId xmlns:a16="http://schemas.microsoft.com/office/drawing/2014/main" id="{4FB204DF-284E-45F6-A017-79A4DF57BC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90971" y="136525"/>
            <a:ext cx="1035526" cy="1035526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49" name="Graphic 212">
            <a:extLst>
              <a:ext uri="{FF2B5EF4-FFF2-40B4-BE49-F238E27FC236}">
                <a16:creationId xmlns:a16="http://schemas.microsoft.com/office/drawing/2014/main" id="{BC8E4194-D60D-466F-B2E4-E0A0C145FC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90971" y="136525"/>
            <a:ext cx="1035526" cy="1035526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86765" y="1017432"/>
            <a:ext cx="6418471" cy="3170574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/>
                <a:ea typeface="Source Sans Pro SemiBold"/>
                <a:cs typeface="Times New Roman"/>
              </a:rPr>
              <a:t>Software </a:t>
            </a:r>
            <a:r>
              <a:rPr lang="en-US">
                <a:latin typeface="Times New Roman"/>
                <a:ea typeface="Source Sans Pro SemiBold"/>
                <a:cs typeface="Times New Roman"/>
              </a:rPr>
              <a:t>Project Lab - 01</a:t>
            </a:r>
            <a:endParaRPr lang="en-US" dirty="0">
              <a:latin typeface="Times New Roman"/>
              <a:cs typeface="Times New Roman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86765" y="4280080"/>
            <a:ext cx="6418471" cy="156048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Times New Roman"/>
                <a:ea typeface="Source Sans Pro"/>
                <a:cs typeface="Times New Roman"/>
              </a:rPr>
              <a:t>Name: Rashik raihan</a:t>
            </a:r>
            <a:endParaRPr lang="en-US" cap="none" spc="0">
              <a:latin typeface="Times New Roman"/>
              <a:ea typeface="Source Sans Pro"/>
              <a:cs typeface="Times New Roman"/>
            </a:endParaRPr>
          </a:p>
          <a:p>
            <a:r>
              <a:rPr lang="en-US">
                <a:latin typeface="Times New Roman"/>
                <a:ea typeface="Source Sans Pro"/>
                <a:cs typeface="Times New Roman"/>
              </a:rPr>
              <a:t>Bsse Roll: 1619</a:t>
            </a:r>
            <a:endParaRPr lang="en-US" cap="none" spc="0">
              <a:latin typeface="Times New Roman"/>
              <a:ea typeface="Source Sans Pro"/>
              <a:cs typeface="Times New Roman"/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E16C8D8F-10E9-4498-ABDB-0F923F8B68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79558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1E5A83E3-8A11-4492-BB6E-F5F2240316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9293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grpSp>
        <p:nvGrpSpPr>
          <p:cNvPr id="52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341751" y="5783167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EBFCD5-5356-4326-8D39-8235A46CD7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0809" y="1187311"/>
            <a:ext cx="5089552" cy="4483379"/>
          </a:xfrm>
          <a:prstGeom prst="rect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14848-248A-47DD-88E0-95099D951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301" y="1178924"/>
            <a:ext cx="5089552" cy="4483379"/>
          </a:xfrm>
          <a:prstGeom prst="rect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18BDA89-0D2C-4C4E-99F6-D7A220FE48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3787" y="1130846"/>
            <a:ext cx="5039475" cy="443926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aphic 38">
            <a:extLst>
              <a:ext uri="{FF2B5EF4-FFF2-40B4-BE49-F238E27FC236}">
                <a16:creationId xmlns:a16="http://schemas.microsoft.com/office/drawing/2014/main" id="{6B67BE95-96EF-433C-9F29-B0732AA6B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3040" y="1424181"/>
            <a:ext cx="1355538" cy="503582"/>
            <a:chOff x="2267504" y="2540250"/>
            <a:chExt cx="1990951" cy="739640"/>
          </a:xfrm>
          <a:solidFill>
            <a:schemeClr val="tx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D324976-1596-4B76-A61C-5626816B24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44DEF24-FB22-48A2-8257-B97AD7E1A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0" name="Graphic 4">
            <a:extLst>
              <a:ext uri="{FF2B5EF4-FFF2-40B4-BE49-F238E27FC236}">
                <a16:creationId xmlns:a16="http://schemas.microsoft.com/office/drawing/2014/main" id="{D6E8B984-55B9-4A62-A043-997D00F0A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32680" y="5188771"/>
            <a:ext cx="1076787" cy="1076789"/>
            <a:chOff x="5829300" y="3162300"/>
            <a:chExt cx="532256" cy="532257"/>
          </a:xfrm>
          <a:solidFill>
            <a:schemeClr val="tx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4FAF4A8-82EB-4F6F-B601-43EBF0BD12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6F2473F-E069-4558-9B41-E285BBE030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C9A4A76-2C9F-486C-9663-6A30A022DE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8431DC7-D4CB-479A-AFA4-5B0C597A2E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0755DA1-6F28-4612-A4A7-B915468C6D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4616ED79-5475-49E6-A5FE-8D9DB12FB0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21DCEB47-7140-4682-8DBF-7667BE28FC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EA931BD3-5A56-42F2-B6B5-647B28D1CF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20E4C8E-4190-498D-9556-6DA668A81F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4B2F30F-0B57-4D60-A087-CD6A471F68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C5E8C73-ED41-4214-AEE6-3C5F493846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1F94534-FE3E-476C-870B-E714E4A668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8DE6C1B0-4D58-4937-B2B7-B1207CA18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02F74E9-D284-CF6A-0071-1A9160B04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1619"/>
            <a:ext cx="4974771" cy="4042196"/>
          </a:xfrm>
        </p:spPr>
        <p:txBody>
          <a:bodyPr>
            <a:normAutofit/>
          </a:bodyPr>
          <a:lstStyle/>
          <a:p>
            <a:pPr algn="ctr"/>
            <a:r>
              <a:rPr lang="en-US">
                <a:latin typeface="Times New Roman"/>
                <a:ea typeface="Source Sans Pro"/>
                <a:cs typeface="Times New Roman"/>
              </a:rPr>
              <a:t>Project Title – </a:t>
            </a:r>
            <a:r>
              <a:rPr lang="en-US" b="1">
                <a:latin typeface="Times New Roman"/>
                <a:ea typeface="Source Sans Pro"/>
                <a:cs typeface="Times New Roman"/>
              </a:rPr>
              <a:t>Pixel</a:t>
            </a:r>
            <a:r>
              <a:rPr lang="en-US" b="1" dirty="0">
                <a:latin typeface="Times New Roman"/>
                <a:ea typeface="Source Sans Pro"/>
                <a:cs typeface="Times New Roman"/>
              </a:rPr>
              <a:t>++</a:t>
            </a:r>
            <a:endParaRPr lang="en-US" b="1" dirty="0">
              <a:latin typeface="Times New Roman"/>
              <a:cs typeface="Times New Roman"/>
            </a:endParaRPr>
          </a:p>
        </p:txBody>
      </p:sp>
      <p:sp>
        <p:nvSpPr>
          <p:cNvPr id="35" name="Graphic 212">
            <a:extLst>
              <a:ext uri="{FF2B5EF4-FFF2-40B4-BE49-F238E27FC236}">
                <a16:creationId xmlns:a16="http://schemas.microsoft.com/office/drawing/2014/main" id="{7CE98B01-ED41-482F-AFA1-19C7FA7C0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02502" y="629793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7" name="Graphic 212">
            <a:extLst>
              <a:ext uri="{FF2B5EF4-FFF2-40B4-BE49-F238E27FC236}">
                <a16:creationId xmlns:a16="http://schemas.microsoft.com/office/drawing/2014/main" id="{B9CABDD0-8DF6-4974-A224-9A2A81778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02502" y="629793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EBF2C-199C-9AAB-D769-283D7B4F04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7078" y="67078"/>
            <a:ext cx="3827703" cy="371717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en-US" sz="1800" dirty="0">
                <a:solidFill>
                  <a:srgbClr val="FFFFFF"/>
                </a:solidFill>
                <a:latin typeface="Century Schoolbook"/>
              </a:rPr>
            </a:br>
            <a:endParaRPr lang="en-US" sz="1800" b="1">
              <a:solidFill>
                <a:srgbClr val="FFFFFF"/>
              </a:solidFill>
              <a:latin typeface="Century Schoolbook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E20906-5ED3-FCAA-AAE2-98F657E6945E}"/>
              </a:ext>
            </a:extLst>
          </p:cNvPr>
          <p:cNvSpPr/>
          <p:nvPr/>
        </p:nvSpPr>
        <p:spPr>
          <a:xfrm>
            <a:off x="6608589" y="2972693"/>
            <a:ext cx="4870701" cy="259542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6BB6BE-5CA1-804C-E555-2A4BBDB7FA0F}"/>
              </a:ext>
            </a:extLst>
          </p:cNvPr>
          <p:cNvSpPr txBox="1"/>
          <p:nvPr/>
        </p:nvSpPr>
        <p:spPr>
          <a:xfrm>
            <a:off x="6951610" y="3292868"/>
            <a:ext cx="4276155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latin typeface="Times New Roman"/>
                <a:ea typeface="Source Sans Pro"/>
                <a:cs typeface="Times New Roman"/>
              </a:rPr>
              <a:t>Supervised By</a:t>
            </a:r>
            <a:br>
              <a:rPr lang="en-US" sz="2400" dirty="0">
                <a:latin typeface="Times New Roman"/>
                <a:ea typeface="Source Sans Pro"/>
              </a:rPr>
            </a:br>
            <a:r>
              <a:rPr lang="en-US" sz="2400">
                <a:latin typeface="Times New Roman"/>
                <a:ea typeface="Source Sans Pro"/>
                <a:cs typeface="Times New Roman"/>
              </a:rPr>
              <a:t>Mohd. Zulfiquar Hafiz</a:t>
            </a:r>
          </a:p>
          <a:p>
            <a:r>
              <a:rPr lang="en-US" sz="2400">
                <a:latin typeface="Times New Roman"/>
                <a:ea typeface="Source Sans Pro"/>
                <a:cs typeface="Times New Roman"/>
              </a:rPr>
              <a:t>Professor</a:t>
            </a:r>
            <a:br>
              <a:rPr lang="en-US" sz="2400" dirty="0">
                <a:latin typeface="Times New Roman"/>
                <a:ea typeface="Source Sans Pro"/>
              </a:rPr>
            </a:br>
            <a:r>
              <a:rPr lang="en-US" sz="2400">
                <a:latin typeface="Times New Roman"/>
                <a:ea typeface="Source Sans Pro"/>
                <a:cs typeface="Times New Roman"/>
              </a:rPr>
              <a:t>IIT, University of Dhaka</a:t>
            </a:r>
            <a:endParaRPr lang="en-US" sz="2400" dirty="0">
              <a:latin typeface="Times New Roman"/>
              <a:ea typeface="Source Sans Pro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7403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3" name="Rectangle 362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4" name="Oval 363">
            <a:extLst>
              <a:ext uri="{FF2B5EF4-FFF2-40B4-BE49-F238E27FC236}">
                <a16:creationId xmlns:a16="http://schemas.microsoft.com/office/drawing/2014/main" id="{4E0A5C5C-2A95-428E-9F6A-0D29EBD5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8395" y="1040837"/>
            <a:ext cx="4754948" cy="4754948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5" name="Oval 364">
            <a:extLst>
              <a:ext uri="{FF2B5EF4-FFF2-40B4-BE49-F238E27FC236}">
                <a16:creationId xmlns:a16="http://schemas.microsoft.com/office/drawing/2014/main" id="{1056F38F-7C4E-461D-8709-7D0024AE1F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411" y="1029607"/>
            <a:ext cx="4754948" cy="4754948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66" name="Oval 365">
            <a:extLst>
              <a:ext uri="{FF2B5EF4-FFF2-40B4-BE49-F238E27FC236}">
                <a16:creationId xmlns:a16="http://schemas.microsoft.com/office/drawing/2014/main" id="{C7278469-3C3C-49CE-AEEE-E176A4900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60" y="934855"/>
            <a:ext cx="4754948" cy="4754948"/>
          </a:xfrm>
          <a:prstGeom prst="ellips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8CF616-B071-E517-6A03-46D56846E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368" y="1877492"/>
            <a:ext cx="4030132" cy="3215373"/>
          </a:xfrm>
        </p:spPr>
        <p:txBody>
          <a:bodyPr>
            <a:normAutofit/>
          </a:bodyPr>
          <a:lstStyle/>
          <a:p>
            <a:pPr algn="ctr"/>
            <a:r>
              <a:rPr lang="en-US" b="1">
                <a:ea typeface="Source Sans Pro"/>
              </a:rPr>
              <a:t>Project Overview</a:t>
            </a:r>
            <a:endParaRPr lang="en-US" b="1"/>
          </a:p>
        </p:txBody>
      </p: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93DC754C-7E09-422D-A8BB-AF632E90D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61854" cy="717514"/>
            <a:chOff x="0" y="377893"/>
            <a:chExt cx="1861854" cy="717514"/>
          </a:xfrm>
          <a:solidFill>
            <a:schemeClr val="tx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369" name="Graphic 212">
            <a:extLst>
              <a:ext uri="{FF2B5EF4-FFF2-40B4-BE49-F238E27FC236}">
                <a16:creationId xmlns:a16="http://schemas.microsoft.com/office/drawing/2014/main" id="{4C6598AB-1C17-4D54-951C-A082D94AC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70" name="Graphic 212">
            <a:extLst>
              <a:ext uri="{FF2B5EF4-FFF2-40B4-BE49-F238E27FC236}">
                <a16:creationId xmlns:a16="http://schemas.microsoft.com/office/drawing/2014/main" id="{C83B66D7-137D-4AC1-B172-53D60F08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71" name="Oval 370">
            <a:extLst>
              <a:ext uri="{FF2B5EF4-FFF2-40B4-BE49-F238E27FC236}">
                <a16:creationId xmlns:a16="http://schemas.microsoft.com/office/drawing/2014/main" id="{F6B92503-6984-4D15-8B98-8718709B78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Oval 371">
            <a:extLst>
              <a:ext uri="{FF2B5EF4-FFF2-40B4-BE49-F238E27FC236}">
                <a16:creationId xmlns:a16="http://schemas.microsoft.com/office/drawing/2014/main" id="{08DDF938-524E-4C18-A47D-C00627832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A4819-047C-5CBC-9FE0-520643A54C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2766" y="667344"/>
            <a:ext cx="5897529" cy="5298289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None/>
            </a:pPr>
            <a:r>
              <a:rPr lang="en-US" sz="1800" b="1">
                <a:latin typeface="Times New Roman"/>
                <a:cs typeface="Times New Roman"/>
              </a:rPr>
              <a:t>Problem</a:t>
            </a:r>
            <a:endParaRPr lang="en-US" sz="1800">
              <a:latin typeface="Times New Roman"/>
              <a:ea typeface="Source Sans Pro"/>
              <a:cs typeface="Times New Roman"/>
            </a:endParaRPr>
          </a:p>
          <a:p>
            <a:pPr>
              <a:buFont typeface="Wingdings"/>
              <a:buChar char="q"/>
            </a:pPr>
            <a:r>
              <a:rPr lang="en-US" sz="1800">
                <a:latin typeface="Times New Roman"/>
                <a:ea typeface="+mn-lt"/>
                <a:cs typeface="Times New Roman"/>
              </a:rPr>
              <a:t>Digital images often suffer from: </a:t>
            </a:r>
          </a:p>
          <a:p>
            <a:pPr marL="971550" lvl="1" indent="-285750">
              <a:buFont typeface="Wingdings"/>
              <a:buChar char="§"/>
            </a:pPr>
            <a:r>
              <a:rPr lang="en-US" sz="1800">
                <a:latin typeface="Times New Roman"/>
                <a:ea typeface="+mn-lt"/>
                <a:cs typeface="Times New Roman"/>
              </a:rPr>
              <a:t>Noise (unwanted distortions) </a:t>
            </a:r>
            <a:endParaRPr lang="en-US" sz="1800">
              <a:latin typeface="Times New Roman"/>
              <a:ea typeface="Source Sans Pro"/>
              <a:cs typeface="Times New Roman"/>
            </a:endParaRPr>
          </a:p>
          <a:p>
            <a:pPr marL="971550" lvl="1" indent="-285750">
              <a:buFont typeface="Wingdings"/>
              <a:buChar char="§"/>
            </a:pPr>
            <a:r>
              <a:rPr lang="en-US" sz="1800">
                <a:latin typeface="Times New Roman"/>
                <a:ea typeface="+mn-lt"/>
                <a:cs typeface="Times New Roman"/>
              </a:rPr>
              <a:t>Blur (loss of detail) </a:t>
            </a:r>
            <a:endParaRPr lang="en-US" sz="1800">
              <a:latin typeface="Times New Roman"/>
              <a:ea typeface="Source Sans Pro"/>
              <a:cs typeface="Times New Roman"/>
            </a:endParaRPr>
          </a:p>
          <a:p>
            <a:pPr marL="971550" lvl="1" indent="-285750">
              <a:buFont typeface="Wingdings"/>
              <a:buChar char="§"/>
            </a:pPr>
            <a:r>
              <a:rPr lang="en-US" sz="1800">
                <a:latin typeface="Times New Roman"/>
                <a:ea typeface="+mn-lt"/>
                <a:cs typeface="Times New Roman"/>
              </a:rPr>
              <a:t>Low resolution (pixelation when scaled) </a:t>
            </a:r>
            <a:endParaRPr lang="en-US" sz="1800">
              <a:latin typeface="Times New Roman"/>
              <a:ea typeface="Source Sans Pro"/>
              <a:cs typeface="Times New Roman"/>
            </a:endParaRPr>
          </a:p>
          <a:p>
            <a:pPr>
              <a:buFont typeface="Wingdings"/>
              <a:buChar char="q"/>
            </a:pPr>
            <a:r>
              <a:rPr lang="en-US" sz="1800">
                <a:latin typeface="Times New Roman"/>
                <a:ea typeface="+mn-lt"/>
                <a:cs typeface="Times New Roman"/>
              </a:rPr>
              <a:t>Basic processing methods may be fast but reduce image quality</a:t>
            </a:r>
            <a:endParaRPr lang="en-US" sz="1800">
              <a:latin typeface="Times New Roman"/>
              <a:ea typeface="Source Sans Pro"/>
              <a:cs typeface="Times New Roman"/>
            </a:endParaRPr>
          </a:p>
          <a:p>
            <a:pPr marL="0" indent="0">
              <a:buNone/>
            </a:pPr>
            <a:endParaRPr lang="en-US" sz="1800" dirty="0">
              <a:ea typeface="Source Sans Pro"/>
            </a:endParaRPr>
          </a:p>
          <a:p>
            <a:pPr>
              <a:buNone/>
            </a:pPr>
            <a:r>
              <a:rPr lang="en-US" sz="1800" b="1">
                <a:latin typeface="Times New Roman"/>
                <a:cs typeface="Times New Roman"/>
              </a:rPr>
              <a:t>Objective</a:t>
            </a:r>
            <a:endParaRPr lang="en-US" sz="1800">
              <a:latin typeface="Times New Roman"/>
              <a:ea typeface="Source Sans Pro"/>
              <a:cs typeface="Times New Roman"/>
            </a:endParaRPr>
          </a:p>
          <a:p>
            <a:pPr>
              <a:buFont typeface="Wingdings"/>
              <a:buChar char="q"/>
            </a:pPr>
            <a:r>
              <a:rPr lang="en-US" sz="1800">
                <a:latin typeface="Times New Roman"/>
                <a:ea typeface="+mn-lt"/>
                <a:cs typeface="Times New Roman"/>
              </a:rPr>
              <a:t>Enhance image quality using advanced algorithms </a:t>
            </a:r>
            <a:endParaRPr lang="en-US" sz="1800">
              <a:latin typeface="Times New Roman"/>
              <a:ea typeface="Source Sans Pro"/>
              <a:cs typeface="Times New Roman"/>
            </a:endParaRPr>
          </a:p>
          <a:p>
            <a:pPr>
              <a:buFont typeface="Wingdings"/>
              <a:buChar char="q"/>
            </a:pPr>
            <a:r>
              <a:rPr lang="en-US" sz="1800">
                <a:latin typeface="Times New Roman"/>
                <a:ea typeface="+mn-lt"/>
                <a:cs typeface="Times New Roman"/>
              </a:rPr>
              <a:t>Compare basic vs advanced techniques </a:t>
            </a:r>
            <a:endParaRPr lang="en-US" sz="1800">
              <a:latin typeface="Times New Roman"/>
              <a:ea typeface="Source Sans Pro"/>
              <a:cs typeface="Times New Roman"/>
            </a:endParaRPr>
          </a:p>
          <a:p>
            <a:pPr>
              <a:buFont typeface="Wingdings"/>
              <a:buChar char="q"/>
            </a:pPr>
            <a:r>
              <a:rPr lang="en-US" sz="1800">
                <a:latin typeface="Times New Roman"/>
                <a:ea typeface="+mn-lt"/>
                <a:cs typeface="Times New Roman"/>
              </a:rPr>
              <a:t>Improve performance using multithreading</a:t>
            </a:r>
            <a:endParaRPr lang="en-US" sz="1800">
              <a:latin typeface="Times New Roman"/>
              <a:ea typeface="Source Sans Pro"/>
              <a:cs typeface="Times New Roman"/>
            </a:endParaRPr>
          </a:p>
          <a:p>
            <a:pPr>
              <a:buFont typeface="Wingdings"/>
              <a:buChar char="q"/>
            </a:pPr>
            <a:r>
              <a:rPr lang="en-US" sz="1800">
                <a:latin typeface="Times New Roman"/>
                <a:ea typeface="+mn-lt"/>
                <a:cs typeface="Times New Roman"/>
              </a:rPr>
              <a:t>Analyze results using CSV-based benchmarking</a:t>
            </a:r>
            <a:endParaRPr lang="en-US" sz="1800">
              <a:latin typeface="Times New Roman"/>
              <a:cs typeface="Times New Roman"/>
            </a:endParaRPr>
          </a:p>
          <a:p>
            <a:pPr marL="0" indent="0">
              <a:buNone/>
            </a:pPr>
            <a:endParaRPr lang="en-US" sz="2000" dirty="0">
              <a:latin typeface="Times New Roman"/>
              <a:ea typeface="Source Sans Pro"/>
              <a:cs typeface="Times New Roman"/>
            </a:endParaRPr>
          </a:p>
        </p:txBody>
      </p:sp>
      <p:grpSp>
        <p:nvGrpSpPr>
          <p:cNvPr id="373" name="Graphic 185">
            <a:extLst>
              <a:ext uri="{FF2B5EF4-FFF2-40B4-BE49-F238E27FC236}">
                <a16:creationId xmlns:a16="http://schemas.microsoft.com/office/drawing/2014/main" id="{3773FAF5-C452-4455-9411-D6AF5EBD4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581034" y="5750136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ECA0D96-F63C-4F7B-BE16-0F3FE76D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4F83A81-0546-400A-918A-90C9C48B8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741F692-A5B6-4215-86D9-B1FD4FF2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C0876CB-9C60-4580-8FED-CD64EC7664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879B3B7-48DB-4D3A-BB33-02766EAD3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54406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9EA0F-6C5A-25AD-D736-00BCCDB14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0989"/>
            <a:ext cx="9447838" cy="1340803"/>
          </a:xfrm>
        </p:spPr>
        <p:txBody>
          <a:bodyPr/>
          <a:lstStyle/>
          <a:p>
            <a:r>
              <a:rPr lang="en-US" b="1">
                <a:ea typeface="Source Sans Pro"/>
              </a:rPr>
              <a:t>Project Evolution</a:t>
            </a:r>
            <a:endParaRPr lang="en-US" b="1" dirty="0">
              <a:ea typeface="Source Sans Pro"/>
            </a:endParaRP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D1685F8-7876-696B-7B72-1D3F923538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96134693"/>
              </p:ext>
            </p:extLst>
          </p:nvPr>
        </p:nvGraphicFramePr>
        <p:xfrm>
          <a:off x="835980" y="1324252"/>
          <a:ext cx="10515600" cy="457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83829990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1514858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1940670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230816877"/>
                    </a:ext>
                  </a:extLst>
                </a:gridCol>
              </a:tblGrid>
              <a:tr h="45782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Feature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During Midterm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Final 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785379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Upscaling</a:t>
                      </a:r>
                      <a:endParaRPr lang="en-US" sz="2000" b="0">
                        <a:latin typeface="Times New Roman"/>
                        <a:cs typeface="Times New Roman"/>
                      </a:endParaRP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Bilinear Interpolation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✔️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✔️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947392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2000" b="1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Lanczos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❌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✔️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5892819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Denoising</a:t>
                      </a:r>
                      <a:endParaRPr lang="en-US" sz="2000" b="0">
                        <a:latin typeface="Times New Roman"/>
                        <a:cs typeface="Times New Roman"/>
                      </a:endParaRP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Median Filter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✔️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✔️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95878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2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0">
                      <a:noFill/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Non-Local Means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❌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✔️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2449117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Sharpening</a:t>
                      </a:r>
                      <a:endParaRPr lang="en-US" sz="2000" b="0">
                        <a:latin typeface="Times New Roman"/>
                        <a:cs typeface="Times New Roman"/>
                      </a:endParaRP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Laplacian Filter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❌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✔️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6968094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2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0">
                      <a:noFill/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Unsharp Masking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✔️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✔️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974068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Edge Detection</a:t>
                      </a:r>
                      <a:endParaRPr lang="en-US" sz="2000" b="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Sobel Operator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✔️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✔️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191610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Performance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Multithreading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❌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✔️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4821158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Analysis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CSV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❌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Times New Roman"/>
                          <a:ea typeface="Source Sans Pro"/>
                          <a:cs typeface="Times New Roman"/>
                        </a:rPr>
                        <a:t>✔️</a:t>
                      </a:r>
                      <a:endParaRPr lang="en-US" sz="2000"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6843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6374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1D72A4A-771D-4FE0-A07E-D0DAF4D69C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5448" y="447277"/>
            <a:ext cx="3294813" cy="5911481"/>
          </a:xfrm>
          <a:prstGeom prst="rect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5BB7246-8AFD-47FC-A1F4-491E0167E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9940" y="438890"/>
            <a:ext cx="3294813" cy="5911481"/>
          </a:xfrm>
          <a:prstGeom prst="rect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9" name="Rectangle 48">
            <a:extLst>
              <a:ext uri="{FF2B5EF4-FFF2-40B4-BE49-F238E27FC236}">
                <a16:creationId xmlns:a16="http://schemas.microsoft.com/office/drawing/2014/main" id="{0A6DF2E7-0906-4F1E-9B28-48B1A4D8E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3787" y="308343"/>
            <a:ext cx="3294813" cy="5911481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Graphic 212">
            <a:extLst>
              <a:ext uri="{FF2B5EF4-FFF2-40B4-BE49-F238E27FC236}">
                <a16:creationId xmlns:a16="http://schemas.microsoft.com/office/drawing/2014/main" id="{684FEC42-F70A-4505-A5DF-EC67268FE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841" y="49924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51" name="Graphic 212">
            <a:extLst>
              <a:ext uri="{FF2B5EF4-FFF2-40B4-BE49-F238E27FC236}">
                <a16:creationId xmlns:a16="http://schemas.microsoft.com/office/drawing/2014/main" id="{7D10AF26-17A2-4FA8-824A-F78507AF6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841" y="49924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7502F0-ABE7-CA00-1D49-537D0745E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105985" cy="4238118"/>
          </a:xfrm>
        </p:spPr>
        <p:txBody>
          <a:bodyPr>
            <a:normAutofit/>
          </a:bodyPr>
          <a:lstStyle/>
          <a:p>
            <a:r>
              <a:rPr lang="en-US" b="1">
                <a:ea typeface="Source Sans Pro"/>
              </a:rPr>
              <a:t>Algorithm Overview</a:t>
            </a:r>
            <a:endParaRPr lang="en-US" b="1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C8E7273-307C-8473-D157-A38B6118F4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40417550"/>
              </p:ext>
            </p:extLst>
          </p:nvPr>
        </p:nvGraphicFramePr>
        <p:xfrm>
          <a:off x="4586796" y="1035728"/>
          <a:ext cx="7126116" cy="4548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607">
                  <a:extLst>
                    <a:ext uri="{9D8B030D-6E8A-4147-A177-3AD203B41FA5}">
                      <a16:colId xmlns:a16="http://schemas.microsoft.com/office/drawing/2014/main" val="148406428"/>
                    </a:ext>
                  </a:extLst>
                </a:gridCol>
                <a:gridCol w="2506415">
                  <a:extLst>
                    <a:ext uri="{9D8B030D-6E8A-4147-A177-3AD203B41FA5}">
                      <a16:colId xmlns:a16="http://schemas.microsoft.com/office/drawing/2014/main" val="269829585"/>
                    </a:ext>
                  </a:extLst>
                </a:gridCol>
                <a:gridCol w="2259094">
                  <a:extLst>
                    <a:ext uri="{9D8B030D-6E8A-4147-A177-3AD203B41FA5}">
                      <a16:colId xmlns:a16="http://schemas.microsoft.com/office/drawing/2014/main" val="2367305470"/>
                    </a:ext>
                  </a:extLst>
                </a:gridCol>
              </a:tblGrid>
              <a:tr h="582826">
                <a:tc>
                  <a:txBody>
                    <a:bodyPr/>
                    <a:lstStyle/>
                    <a:p>
                      <a:pPr algn="ctr"/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Feature</a:t>
                      </a:r>
                    </a:p>
                  </a:txBody>
                  <a:tcPr marL="135129" marR="135129" marT="67564" marB="67564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Basic</a:t>
                      </a:r>
                    </a:p>
                  </a:txBody>
                  <a:tcPr marL="135129" marR="135129" marT="67564" marB="67564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Advanced</a:t>
                      </a:r>
                    </a:p>
                  </a:txBody>
                  <a:tcPr marL="135129" marR="135129" marT="67564" marB="67564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544869"/>
                  </a:ext>
                </a:extLst>
              </a:tr>
              <a:tr h="991310">
                <a:tc>
                  <a:txBody>
                    <a:bodyPr/>
                    <a:lstStyle/>
                    <a:p>
                      <a:pPr algn="ctr"/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Upscaling</a:t>
                      </a:r>
                    </a:p>
                  </a:txBody>
                  <a:tcPr marL="135129" marR="135129" marT="67564" marB="67564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Bilinear Interpolation</a:t>
                      </a:r>
                    </a:p>
                  </a:txBody>
                  <a:tcPr marL="135129" marR="135129" marT="67564" marB="67564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Lanczos</a:t>
                      </a:r>
                    </a:p>
                  </a:txBody>
                  <a:tcPr marL="135129" marR="135129" marT="67564" marB="67564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1961"/>
                  </a:ext>
                </a:extLst>
              </a:tr>
              <a:tr h="991310">
                <a:tc>
                  <a:txBody>
                    <a:bodyPr/>
                    <a:lstStyle/>
                    <a:p>
                      <a:pPr algn="ctr"/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Denoising</a:t>
                      </a:r>
                    </a:p>
                  </a:txBody>
                  <a:tcPr marL="135129" marR="135129" marT="67564" marB="67564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Median Filter</a:t>
                      </a:r>
                    </a:p>
                  </a:txBody>
                  <a:tcPr marL="135129" marR="135129" marT="67564" marB="67564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Non-Local Means</a:t>
                      </a:r>
                    </a:p>
                  </a:txBody>
                  <a:tcPr marL="135129" marR="135129" marT="67564" marB="67564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006810"/>
                  </a:ext>
                </a:extLst>
              </a:tr>
              <a:tr h="99131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Sharpening</a:t>
                      </a:r>
                    </a:p>
                  </a:txBody>
                  <a:tcPr marL="135129" marR="135129" marT="67564" marB="67564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Unsharp Mask</a:t>
                      </a:r>
                    </a:p>
                  </a:txBody>
                  <a:tcPr marL="135129" marR="135129" marT="67564" marB="67564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Laplacian</a:t>
                      </a:r>
                    </a:p>
                  </a:txBody>
                  <a:tcPr marL="135129" marR="135129" marT="67564" marB="67564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199538"/>
                  </a:ext>
                </a:extLst>
              </a:tr>
              <a:tr h="99131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Edge Detection</a:t>
                      </a:r>
                    </a:p>
                  </a:txBody>
                  <a:tcPr marL="135129" marR="135129" marT="67564" marB="67564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Sobel Operator</a:t>
                      </a:r>
                    </a:p>
                  </a:txBody>
                  <a:tcPr marL="135129" marR="135129" marT="67564" marB="67564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(Enhanced quality)</a:t>
                      </a:r>
                    </a:p>
                  </a:txBody>
                  <a:tcPr marL="135129" marR="135129" marT="67564" marB="67564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859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588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2BE42-6887-F87C-6CFB-CBDA759B7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5785"/>
            <a:ext cx="10515600" cy="1325563"/>
          </a:xfrm>
        </p:spPr>
        <p:txBody>
          <a:bodyPr/>
          <a:lstStyle/>
          <a:p>
            <a:r>
              <a:rPr lang="en-US" b="1">
                <a:ea typeface="Source Sans Pro"/>
              </a:rPr>
              <a:t>Results (Denoising)</a:t>
            </a:r>
            <a:endParaRPr lang="en-US" b="1"/>
          </a:p>
        </p:txBody>
      </p:sp>
      <p:pic>
        <p:nvPicPr>
          <p:cNvPr id="14" name="Content Placeholder 13" descr="A person wearing a hat&#10;&#10;AI-generated content may be incorrect.">
            <a:extLst>
              <a:ext uri="{FF2B5EF4-FFF2-40B4-BE49-F238E27FC236}">
                <a16:creationId xmlns:a16="http://schemas.microsoft.com/office/drawing/2014/main" id="{5E66368C-56F9-5D63-56D0-3A2535F9BD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4629" t="30184" r="41445" b="42129"/>
          <a:stretch>
            <a:fillRect/>
          </a:stretch>
        </p:blipFill>
        <p:spPr>
          <a:xfrm>
            <a:off x="860308" y="1602267"/>
            <a:ext cx="3831623" cy="3827293"/>
          </a:xfrm>
          <a:prstGeom prst="rect">
            <a:avLst/>
          </a:prstGeom>
        </p:spPr>
      </p:pic>
      <p:pic>
        <p:nvPicPr>
          <p:cNvPr id="15" name="Picture 14" descr="A person wearing a hat&#10;&#10;AI-generated content may be incorrect.">
            <a:extLst>
              <a:ext uri="{FF2B5EF4-FFF2-40B4-BE49-F238E27FC236}">
                <a16:creationId xmlns:a16="http://schemas.microsoft.com/office/drawing/2014/main" id="{44FD2650-F63D-129A-4DCD-AD3F0CA5F3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804" t="31430" r="41260" b="43091"/>
          <a:stretch>
            <a:fillRect/>
          </a:stretch>
        </p:blipFill>
        <p:spPr>
          <a:xfrm>
            <a:off x="7522522" y="1599908"/>
            <a:ext cx="3830120" cy="383008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8B200BA-5B48-5AD2-6AF7-456EA7DF6063}"/>
              </a:ext>
            </a:extLst>
          </p:cNvPr>
          <p:cNvSpPr txBox="1"/>
          <p:nvPr/>
        </p:nvSpPr>
        <p:spPr>
          <a:xfrm>
            <a:off x="861540" y="5615458"/>
            <a:ext cx="3810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ea typeface="Source Sans Pro"/>
              </a:rPr>
              <a:t>Median Filter</a:t>
            </a:r>
            <a:br>
              <a:rPr lang="en-US" b="1" dirty="0">
                <a:ea typeface="Source Sans Pro"/>
              </a:rPr>
            </a:br>
            <a:r>
              <a:rPr lang="en-US" b="1">
                <a:ea typeface="Source Sans Pro"/>
              </a:rPr>
              <a:t>(Preserves less detail)</a:t>
            </a:r>
            <a:endParaRPr lang="en-US" b="1" dirty="0">
              <a:ea typeface="Source Sans Pro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6D80F1-5515-D39F-4EB2-92CC85824A7C}"/>
              </a:ext>
            </a:extLst>
          </p:cNvPr>
          <p:cNvSpPr txBox="1"/>
          <p:nvPr/>
        </p:nvSpPr>
        <p:spPr>
          <a:xfrm>
            <a:off x="7520459" y="5618890"/>
            <a:ext cx="383745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Source Sans Pro"/>
              </a:rPr>
              <a:t> </a:t>
            </a:r>
            <a:r>
              <a:rPr lang="en-US" b="1">
                <a:ea typeface="Source Sans Pro"/>
              </a:rPr>
              <a:t>Non-Local Means</a:t>
            </a:r>
          </a:p>
          <a:p>
            <a:pPr algn="ctr"/>
            <a:r>
              <a:rPr lang="en-US" b="1">
                <a:ea typeface="Source Sans Pro"/>
              </a:rPr>
              <a:t>(Preserves more detail)</a:t>
            </a:r>
          </a:p>
        </p:txBody>
      </p:sp>
      <p:pic>
        <p:nvPicPr>
          <p:cNvPr id="20" name="Picture 19" descr="A blurry image of a person&amp;#39;s face&#10;&#10;AI-generated content may be incorrect.">
            <a:extLst>
              <a:ext uri="{FF2B5EF4-FFF2-40B4-BE49-F238E27FC236}">
                <a16:creationId xmlns:a16="http://schemas.microsoft.com/office/drawing/2014/main" id="{35485183-586C-8675-67C4-5AC3218BF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625" y="1457754"/>
            <a:ext cx="2190750" cy="9906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1" name="Arrow: Up 20">
            <a:extLst>
              <a:ext uri="{FF2B5EF4-FFF2-40B4-BE49-F238E27FC236}">
                <a16:creationId xmlns:a16="http://schemas.microsoft.com/office/drawing/2014/main" id="{259BB050-6C71-41F9-F0B4-76C7968648DD}"/>
              </a:ext>
            </a:extLst>
          </p:cNvPr>
          <p:cNvSpPr/>
          <p:nvPr/>
        </p:nvSpPr>
        <p:spPr>
          <a:xfrm rot="2040000">
            <a:off x="4296790" y="2542996"/>
            <a:ext cx="281459" cy="18569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Up 21">
            <a:extLst>
              <a:ext uri="{FF2B5EF4-FFF2-40B4-BE49-F238E27FC236}">
                <a16:creationId xmlns:a16="http://schemas.microsoft.com/office/drawing/2014/main" id="{AED27267-DCBB-0C75-B9C9-EC3C15697045}"/>
              </a:ext>
            </a:extLst>
          </p:cNvPr>
          <p:cNvSpPr/>
          <p:nvPr/>
        </p:nvSpPr>
        <p:spPr>
          <a:xfrm rot="-4980000">
            <a:off x="8281083" y="3158925"/>
            <a:ext cx="329510" cy="2323752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A close up of a person&amp;#39;s eye&#10;&#10;AI-generated content may be incorrect.">
            <a:extLst>
              <a:ext uri="{FF2B5EF4-FFF2-40B4-BE49-F238E27FC236}">
                <a16:creationId xmlns:a16="http://schemas.microsoft.com/office/drawing/2014/main" id="{231294FD-BE26-9511-EDD5-3EE51647D9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6291" y="3519486"/>
            <a:ext cx="2199418" cy="99978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78850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5095A-DA1E-8E30-5348-AF43CC338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1018"/>
            <a:ext cx="10515600" cy="1325563"/>
          </a:xfrm>
        </p:spPr>
        <p:txBody>
          <a:bodyPr/>
          <a:lstStyle/>
          <a:p>
            <a:r>
              <a:rPr lang="en-US" b="1">
                <a:ea typeface="Source Sans Pro"/>
              </a:rPr>
              <a:t>Results (Edge Detection)</a:t>
            </a:r>
            <a:endParaRPr lang="en-US" b="1"/>
          </a:p>
        </p:txBody>
      </p:sp>
      <p:pic>
        <p:nvPicPr>
          <p:cNvPr id="4" name="Content Placeholder 3" descr="A drawing of a person with a feather hat&#10;&#10;AI-generated content may be incorrect.">
            <a:extLst>
              <a:ext uri="{FF2B5EF4-FFF2-40B4-BE49-F238E27FC236}">
                <a16:creationId xmlns:a16="http://schemas.microsoft.com/office/drawing/2014/main" id="{14AD1260-1059-0DD3-647B-C66300C459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7611" y="1712572"/>
            <a:ext cx="4053385" cy="4114800"/>
          </a:xfrm>
          <a:prstGeom prst="rect">
            <a:avLst/>
          </a:prstGeom>
        </p:spPr>
      </p:pic>
      <p:pic>
        <p:nvPicPr>
          <p:cNvPr id="5" name="Picture 4" descr="A black and white drawing of a person&#10;&#10;AI-generated content may be incorrect.">
            <a:extLst>
              <a:ext uri="{FF2B5EF4-FFF2-40B4-BE49-F238E27FC236}">
                <a16:creationId xmlns:a16="http://schemas.microsoft.com/office/drawing/2014/main" id="{8CC82440-A3DF-4D27-908A-1DC7102F0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9297" y="1711778"/>
            <a:ext cx="4148818" cy="412160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1D8C75-DCF1-EBFA-D669-4D9C1A324573}"/>
              </a:ext>
            </a:extLst>
          </p:cNvPr>
          <p:cNvSpPr txBox="1"/>
          <p:nvPr/>
        </p:nvSpPr>
        <p:spPr>
          <a:xfrm>
            <a:off x="840090" y="5966173"/>
            <a:ext cx="405016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ea typeface="Source Sans Pro"/>
              </a:rPr>
              <a:t>Sobel Operator </a:t>
            </a:r>
            <a:br>
              <a:rPr lang="en-US" b="1" dirty="0">
                <a:ea typeface="Source Sans Pro"/>
              </a:rPr>
            </a:br>
            <a:r>
              <a:rPr lang="en-US" b="1">
                <a:ea typeface="Source Sans Pro"/>
              </a:rPr>
              <a:t>(Static Threshold)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AF2568-6E76-BCED-BD4C-A5CEF16E0581}"/>
              </a:ext>
            </a:extLst>
          </p:cNvPr>
          <p:cNvSpPr txBox="1"/>
          <p:nvPr/>
        </p:nvSpPr>
        <p:spPr>
          <a:xfrm>
            <a:off x="6890180" y="5965561"/>
            <a:ext cx="414088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ea typeface="Source Sans Pro"/>
              </a:rPr>
              <a:t>Sobel Operator</a:t>
            </a:r>
            <a:br>
              <a:rPr lang="en-US" b="1" dirty="0">
                <a:ea typeface="Source Sans Pro"/>
              </a:rPr>
            </a:br>
            <a:r>
              <a:rPr lang="en-US" b="1">
                <a:ea typeface="Source Sans Pro"/>
              </a:rPr>
              <a:t>(Dynamic Threshold)</a:t>
            </a:r>
          </a:p>
        </p:txBody>
      </p:sp>
    </p:spTree>
    <p:extLst>
      <p:ext uri="{BB962C8B-B14F-4D97-AF65-F5344CB8AC3E}">
        <p14:creationId xmlns:p14="http://schemas.microsoft.com/office/powerpoint/2010/main" val="1873119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38C5B-B67E-AD31-0D1A-C570222F6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232"/>
            <a:ext cx="10515600" cy="1325563"/>
          </a:xfrm>
        </p:spPr>
        <p:txBody>
          <a:bodyPr/>
          <a:lstStyle/>
          <a:p>
            <a:r>
              <a:rPr lang="en-US" b="1">
                <a:ea typeface="+mj-lt"/>
                <a:cs typeface="+mj-lt"/>
              </a:rPr>
              <a:t>Optimization </a:t>
            </a:r>
            <a:endParaRPr lang="en-US" b="1">
              <a:ea typeface="Source Sans Pro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C9B72-D780-83D1-D44B-19BE3AECD9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000"/>
            <a:ext cx="6005523" cy="498407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sz="2400" b="1">
                <a:latin typeface="Times New Roman"/>
                <a:cs typeface="Times New Roman"/>
              </a:rPr>
              <a:t>Multithreading (MT)</a:t>
            </a:r>
            <a:endParaRPr lang="en-US" sz="2400">
              <a:latin typeface="Times New Roman"/>
              <a:ea typeface="Source Sans Pro"/>
              <a:cs typeface="Times New Roman"/>
            </a:endParaRPr>
          </a:p>
          <a:p>
            <a:pPr>
              <a:buFont typeface="Wingdings"/>
              <a:buChar char="q"/>
            </a:pPr>
            <a:r>
              <a:rPr lang="en-US" sz="2000">
                <a:latin typeface="Times New Roman"/>
                <a:ea typeface="+mn-lt"/>
                <a:cs typeface="Times New Roman"/>
              </a:rPr>
              <a:t> Divides image processing work across multiple CPU threads </a:t>
            </a:r>
            <a:endParaRPr lang="en-US" sz="2000">
              <a:latin typeface="Times New Roman"/>
              <a:ea typeface="Source Sans Pro"/>
              <a:cs typeface="Times New Roman"/>
            </a:endParaRPr>
          </a:p>
          <a:p>
            <a:pPr>
              <a:buFont typeface="Wingdings"/>
              <a:buChar char="q"/>
            </a:pPr>
            <a:r>
              <a:rPr lang="en-US" sz="2000" dirty="0">
                <a:latin typeface="Times New Roman"/>
                <a:ea typeface="+mn-lt"/>
                <a:cs typeface="Times New Roman"/>
              </a:rPr>
              <a:t> Processes different parts of the image simultaneously </a:t>
            </a:r>
            <a:endParaRPr lang="en-US" sz="2000">
              <a:latin typeface="Times New Roman"/>
              <a:ea typeface="Source Sans Pro"/>
              <a:cs typeface="Times New Roman"/>
            </a:endParaRPr>
          </a:p>
          <a:p>
            <a:pPr>
              <a:buFont typeface="Wingdings"/>
              <a:buChar char="q"/>
            </a:pPr>
            <a:r>
              <a:rPr lang="en-US" sz="2000">
                <a:latin typeface="Times New Roman"/>
                <a:ea typeface="+mn-lt"/>
                <a:cs typeface="Times New Roman"/>
              </a:rPr>
              <a:t> Reduces overall execution time</a:t>
            </a:r>
            <a:endParaRPr lang="en-US" sz="2000">
              <a:latin typeface="Times New Roman"/>
              <a:ea typeface="Source Sans Pro"/>
              <a:cs typeface="Times New Roman"/>
            </a:endParaRPr>
          </a:p>
          <a:p>
            <a:pPr>
              <a:buFont typeface="Wingdings"/>
              <a:buChar char="q"/>
            </a:pPr>
            <a:r>
              <a:rPr lang="en-US" sz="2000" dirty="0">
                <a:latin typeface="Times New Roman"/>
                <a:ea typeface="+mn-lt"/>
                <a:cs typeface="Times New Roman"/>
              </a:rPr>
              <a:t>Achieves significant speed improvement (</a:t>
            </a:r>
            <a:r>
              <a:rPr lang="en-US" sz="2000">
                <a:latin typeface="Times New Roman"/>
                <a:ea typeface="+mn-lt"/>
                <a:cs typeface="Times New Roman"/>
              </a:rPr>
              <a:t>up to 10x speedup)</a:t>
            </a:r>
            <a:endParaRPr lang="en-US" sz="2000">
              <a:latin typeface="Times New Roman"/>
              <a:cs typeface="Times New Roman"/>
            </a:endParaRPr>
          </a:p>
          <a:p>
            <a:pPr>
              <a:buFont typeface="Wingdings"/>
              <a:buChar char="q"/>
            </a:pPr>
            <a:endParaRPr lang="en-US" sz="2000" b="1" dirty="0">
              <a:ea typeface="Source Sans Pro"/>
            </a:endParaRPr>
          </a:p>
          <a:p>
            <a:pPr marL="0" indent="0">
              <a:buNone/>
            </a:pPr>
            <a:r>
              <a:rPr lang="en-US" sz="2000" b="1" dirty="0">
                <a:latin typeface="Times New Roman"/>
                <a:ea typeface="+mn-lt"/>
                <a:cs typeface="Times New Roman"/>
              </a:rPr>
              <a:t>Contiguous memory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layout improves cache </a:t>
            </a:r>
            <a:r>
              <a:rPr lang="en-US" sz="2000">
                <a:latin typeface="Times New Roman"/>
                <a:ea typeface="+mn-lt"/>
                <a:cs typeface="Times New Roman"/>
              </a:rPr>
              <a:t>locality. This reduces</a:t>
            </a:r>
            <a:r>
              <a:rPr lang="en-US" sz="2000" dirty="0">
                <a:latin typeface="Times New Roman"/>
                <a:ea typeface="+mn-lt"/>
                <a:cs typeface="Times New Roman"/>
              </a:rPr>
              <a:t> cache misses and enhances performance during parallel processing</a:t>
            </a:r>
            <a:endParaRPr lang="en-US" sz="2000" dirty="0">
              <a:latin typeface="Times New Roman"/>
              <a:cs typeface="Times New Roman"/>
            </a:endParaRPr>
          </a:p>
        </p:txBody>
      </p:sp>
      <p:pic>
        <p:nvPicPr>
          <p:cNvPr id="4" name="Picture 3" descr="A grid of numbers and lines&#10;&#10;AI-generated content may be incorrect.">
            <a:extLst>
              <a:ext uri="{FF2B5EF4-FFF2-40B4-BE49-F238E27FC236}">
                <a16:creationId xmlns:a16="http://schemas.microsoft.com/office/drawing/2014/main" id="{9D69062E-715D-8410-788C-CEC39E19D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7022" y="1394460"/>
            <a:ext cx="5537835" cy="405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964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36BD6-9293-93E4-1F30-343B99C17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7821"/>
            <a:ext cx="10515600" cy="1325563"/>
          </a:xfrm>
        </p:spPr>
        <p:txBody>
          <a:bodyPr/>
          <a:lstStyle/>
          <a:p>
            <a:r>
              <a:rPr lang="en-US" b="1">
                <a:ea typeface="+mj-lt"/>
                <a:cs typeface="+mj-lt"/>
              </a:rPr>
              <a:t>Performance &amp; Benchmarking</a:t>
            </a:r>
            <a:endParaRPr lang="en-US" b="1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1988C22-B260-4658-6D93-9C3F5FF576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68513118"/>
              </p:ext>
            </p:extLst>
          </p:nvPr>
        </p:nvGraphicFramePr>
        <p:xfrm>
          <a:off x="836839" y="1496785"/>
          <a:ext cx="10515600" cy="391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33920313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00141156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73469762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81002847"/>
                    </a:ext>
                  </a:extLst>
                </a:gridCol>
              </a:tblGrid>
              <a:tr h="489428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Algorithms</a:t>
                      </a:r>
                      <a:endParaRPr lang="en-US" sz="2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Basic</a:t>
                      </a:r>
                      <a:endParaRPr lang="en-US" sz="2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MT (8 threads)</a:t>
                      </a:r>
                      <a:endParaRPr lang="en-US" sz="2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MT (16 threads)</a:t>
                      </a:r>
                      <a:endParaRPr lang="en-US" sz="2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682545"/>
                  </a:ext>
                </a:extLst>
              </a:tr>
              <a:tr h="489428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Bilinear Interpolation</a:t>
                      </a:r>
                      <a:endParaRPr lang="en-US" sz="2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</a:rPr>
                        <a:t>0.796872 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0.132289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  <a:cs typeface="Times New Roman"/>
                        </a:rPr>
                        <a:t>0.079367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111128"/>
                  </a:ext>
                </a:extLst>
              </a:tr>
              <a:tr h="489428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Lanczos</a:t>
                      </a:r>
                      <a:endParaRPr lang="en-US" sz="2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</a:rPr>
                        <a:t>9.550705 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1.648525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  <a:cs typeface="Times New Roman"/>
                        </a:rPr>
                        <a:t>1.204690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6556504"/>
                  </a:ext>
                </a:extLst>
              </a:tr>
              <a:tr h="489428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Median Filter</a:t>
                      </a:r>
                      <a:endParaRPr lang="en-US" sz="2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</a:rPr>
                        <a:t>94.594565 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13.440227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  <a:cs typeface="Times New Roman"/>
                        </a:rPr>
                        <a:t>9.346646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612911"/>
                  </a:ext>
                </a:extLst>
              </a:tr>
              <a:tr h="489428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Non-Local Means</a:t>
                      </a:r>
                      <a:endParaRPr lang="en-US" sz="2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</a:rPr>
                        <a:t>2861.486949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658.994235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  <a:cs typeface="Times New Roman"/>
                        </a:rPr>
                        <a:t>464.183417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8528594"/>
                  </a:ext>
                </a:extLst>
              </a:tr>
              <a:tr h="489428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Unsharp Masking</a:t>
                      </a:r>
                      <a:endParaRPr lang="en-US" sz="2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</a:rPr>
                        <a:t>3.525117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0.652248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  <a:cs typeface="Times New Roman"/>
                        </a:rPr>
                        <a:t>0.574929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777224"/>
                  </a:ext>
                </a:extLst>
              </a:tr>
              <a:tr h="489428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Laplacian</a:t>
                      </a:r>
                      <a:endParaRPr lang="en-US" sz="2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</a:rPr>
                        <a:t>2.341146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0.532913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  <a:cs typeface="Times New Roman"/>
                        </a:rPr>
                        <a:t>0.424064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783155"/>
                  </a:ext>
                </a:extLst>
              </a:tr>
              <a:tr h="489428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Sobel Operator</a:t>
                      </a:r>
                      <a:endParaRPr lang="en-US" sz="2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</a:rPr>
                        <a:t>4.389104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0.839225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0" i="0" u="none" strike="noStrike" noProof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  <a:cs typeface="Times New Roman"/>
                        </a:rPr>
                        <a:t>0.608131</a:t>
                      </a: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1121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56CC5F3-7BEF-7733-EB8E-1E739F8748CD}"/>
              </a:ext>
            </a:extLst>
          </p:cNvPr>
          <p:cNvSpPr txBox="1"/>
          <p:nvPr/>
        </p:nvSpPr>
        <p:spPr>
          <a:xfrm>
            <a:off x="836995" y="5697354"/>
            <a:ext cx="8871762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q"/>
            </a:pPr>
            <a:r>
              <a:rPr lang="en-US" sz="2000">
                <a:latin typeface="Times New Roman"/>
                <a:ea typeface="Source Sans Pro"/>
                <a:cs typeface="Times New Roman"/>
              </a:rPr>
              <a:t>All algorithms are tested with </a:t>
            </a:r>
            <a:r>
              <a:rPr lang="en-US" sz="2000" b="1">
                <a:latin typeface="Times New Roman"/>
                <a:ea typeface="Source Sans Pro"/>
                <a:cs typeface="Times New Roman"/>
              </a:rPr>
              <a:t>10,000 x 10,000 resolution</a:t>
            </a:r>
            <a:r>
              <a:rPr lang="en-US" sz="2000">
                <a:latin typeface="Times New Roman"/>
                <a:ea typeface="Source Sans Pro"/>
                <a:cs typeface="Times New Roman"/>
              </a:rPr>
              <a:t> images</a:t>
            </a:r>
          </a:p>
        </p:txBody>
      </p:sp>
    </p:spTree>
    <p:extLst>
      <p:ext uri="{BB962C8B-B14F-4D97-AF65-F5344CB8AC3E}">
        <p14:creationId xmlns:p14="http://schemas.microsoft.com/office/powerpoint/2010/main" val="1782111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839D2-4023-E8EE-96C0-58906864E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a typeface="+mj-lt"/>
                <a:cs typeface="+mj-lt"/>
              </a:rPr>
              <a:t>Conclusion &amp; Challenges</a:t>
            </a:r>
            <a:endParaRPr lang="en-US" b="1">
              <a:ea typeface="Source Sans Pro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CE744-3DB0-A16F-22DD-DD97D699E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sz="2000" dirty="0"/>
              <a:t> </a:t>
            </a:r>
            <a:r>
              <a:rPr lang="en-US" sz="2000" b="1">
                <a:latin typeface="Times New Roman"/>
                <a:cs typeface="Times New Roman"/>
              </a:rPr>
              <a:t>Conclusion</a:t>
            </a:r>
            <a:endParaRPr lang="en-US" sz="2000" b="1">
              <a:latin typeface="Times New Roman"/>
              <a:ea typeface="Source Sans Pro"/>
              <a:cs typeface="Times New Roman"/>
            </a:endParaRPr>
          </a:p>
          <a:p>
            <a:pPr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Successfully implemented multiple image processing features in C </a:t>
            </a:r>
            <a:endParaRPr lang="en-US" sz="2000">
              <a:latin typeface="Times New Roman"/>
              <a:ea typeface="Source Sans Pro"/>
              <a:cs typeface="Times New Roman"/>
            </a:endParaRPr>
          </a:p>
          <a:p>
            <a:pPr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Improved image quality using advanced algorithms</a:t>
            </a:r>
            <a:endParaRPr lang="en-US" sz="2000">
              <a:latin typeface="Times New Roman"/>
              <a:ea typeface="Source Sans Pro"/>
              <a:cs typeface="Times New Roman"/>
            </a:endParaRPr>
          </a:p>
          <a:p>
            <a:pPr>
              <a:buFont typeface="Arial"/>
              <a:buChar char="•"/>
            </a:pPr>
            <a:r>
              <a:rPr lang="en-US" sz="2000" dirty="0">
                <a:latin typeface="Times New Roman"/>
                <a:ea typeface="+mn-lt"/>
                <a:cs typeface="Times New Roman"/>
              </a:rPr>
              <a:t>With the help of data </a:t>
            </a:r>
            <a:r>
              <a:rPr lang="en-US" sz="2000">
                <a:latin typeface="Times New Roman"/>
                <a:ea typeface="+mn-lt"/>
                <a:cs typeface="Times New Roman"/>
              </a:rPr>
              <a:t>parallelism achieved significant performance improvement </a:t>
            </a:r>
            <a:endParaRPr lang="en-US" sz="2000">
              <a:latin typeface="Times New Roman"/>
              <a:ea typeface="Source Sans Pro"/>
              <a:cs typeface="Times New Roman"/>
            </a:endParaRPr>
          </a:p>
          <a:p>
            <a:pPr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Built a system capable of both quality enhancement and performance benchmarking</a:t>
            </a:r>
            <a:endParaRPr lang="en-US" sz="2000">
              <a:latin typeface="Times New Roman"/>
              <a:cs typeface="Times New Roman"/>
            </a:endParaRPr>
          </a:p>
          <a:p>
            <a:pPr>
              <a:buNone/>
            </a:pPr>
            <a:r>
              <a:rPr lang="en-US" sz="2000" b="1">
                <a:latin typeface="Times New Roman"/>
                <a:cs typeface="Times New Roman"/>
              </a:rPr>
              <a:t>Challenges</a:t>
            </a:r>
            <a:endParaRPr lang="en-US" sz="2000">
              <a:latin typeface="Times New Roman"/>
              <a:ea typeface="Source Sans Pro"/>
              <a:cs typeface="Times New Roman"/>
            </a:endParaRPr>
          </a:p>
          <a:p>
            <a:pPr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Efficient memory management in C during image processing </a:t>
            </a:r>
            <a:endParaRPr lang="en-US" sz="2000">
              <a:latin typeface="Times New Roman"/>
              <a:ea typeface="Source Sans Pro"/>
              <a:cs typeface="Times New Roman"/>
            </a:endParaRPr>
          </a:p>
          <a:p>
            <a:pPr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Synchronization and coordination in multithreaded processing </a:t>
            </a:r>
            <a:endParaRPr lang="en-US" sz="2000">
              <a:latin typeface="Times New Roman"/>
              <a:ea typeface="Source Sans Pro"/>
              <a:cs typeface="Times New Roman"/>
            </a:endParaRPr>
          </a:p>
          <a:p>
            <a:pPr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Knowing when to lock a variable and when to share it</a:t>
            </a:r>
            <a:endParaRPr lang="en-US" sz="2000" dirty="0">
              <a:latin typeface="Times New Roman"/>
              <a:ea typeface="+mn-lt"/>
              <a:cs typeface="Times New Roman"/>
            </a:endParaRPr>
          </a:p>
          <a:p>
            <a:pPr>
              <a:buFont typeface="Arial"/>
              <a:buChar char="•"/>
            </a:pPr>
            <a:r>
              <a:rPr lang="en-US" sz="2000">
                <a:latin typeface="Times New Roman"/>
                <a:ea typeface="+mn-lt"/>
                <a:cs typeface="Times New Roman"/>
              </a:rPr>
              <a:t>Balancing performance improvement with code maintainability</a:t>
            </a:r>
            <a:endParaRPr lang="en-US" sz="2000">
              <a:latin typeface="Times New Roman"/>
              <a:cs typeface="Times New Roman"/>
            </a:endParaRPr>
          </a:p>
          <a:p>
            <a:pPr marL="0" indent="0">
              <a:buNone/>
            </a:pPr>
            <a:endParaRPr lang="en-US" dirty="0"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28655810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9" name="Graphic 185">
            <a:extLst>
              <a:ext uri="{FF2B5EF4-FFF2-40B4-BE49-F238E27FC236}">
                <a16:creationId xmlns:a16="http://schemas.microsoft.com/office/drawing/2014/main" id="{8A351602-3772-4279-B0D3-A523F6F6E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99576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5AAAA75-5FFB-4C07-AD4A-3146773E6C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1479895E-3847-44BB-8404-28F14219F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0E02F68-8149-4236-8D9F-6B550F78B9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956FCAAB-F073-4561-A484-42C7DD10DC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CF8DB94-87A3-43E9-9BBB-301CFF0FB0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32" name="Oval 431">
            <a:extLst>
              <a:ext uri="{FF2B5EF4-FFF2-40B4-BE49-F238E27FC236}">
                <a16:creationId xmlns:a16="http://schemas.microsoft.com/office/drawing/2014/main" id="{7D6BF779-0B8C-4CC2-9268-9506AD0C5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433" name="Rectangle 432">
            <a:extLst>
              <a:ext uri="{FF2B5EF4-FFF2-40B4-BE49-F238E27FC236}">
                <a16:creationId xmlns:a16="http://schemas.microsoft.com/office/drawing/2014/main" id="{489B7BFD-8F45-4093-AD9C-91B15B050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34" name="Group 433">
            <a:extLst>
              <a:ext uri="{FF2B5EF4-FFF2-40B4-BE49-F238E27FC236}">
                <a16:creationId xmlns:a16="http://schemas.microsoft.com/office/drawing/2014/main" id="{042BC7E5-76DB-4826-8C07-4A49B6353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479558"/>
            <a:ext cx="1861854" cy="717514"/>
            <a:chOff x="0" y="1479558"/>
            <a:chExt cx="1861854" cy="717514"/>
          </a:xfrm>
          <a:solidFill>
            <a:schemeClr val="tx1"/>
          </a:solidFill>
        </p:grpSpPr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E16C8D8F-10E9-4498-ABDB-0F923F8B68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47955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1E5A83E3-8A11-4492-BB6E-F5F2240316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9192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</p:grpSp>
      <p:sp>
        <p:nvSpPr>
          <p:cNvPr id="437" name="Freeform: Shape 436">
            <a:extLst>
              <a:ext uri="{FF2B5EF4-FFF2-40B4-BE49-F238E27FC236}">
                <a16:creationId xmlns:a16="http://schemas.microsoft.com/office/drawing/2014/main" id="{498F8FF6-43B4-494A-AF8F-123A4983E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018992" y="-10634"/>
            <a:ext cx="6655405" cy="6335470"/>
          </a:xfrm>
          <a:custGeom>
            <a:avLst/>
            <a:gdLst>
              <a:gd name="connsiteX0" fmla="*/ 1825048 w 6355652"/>
              <a:gd name="connsiteY0" fmla="*/ 0 h 6050127"/>
              <a:gd name="connsiteX1" fmla="*/ 4530604 w 6355652"/>
              <a:gd name="connsiteY1" fmla="*/ 0 h 6050127"/>
              <a:gd name="connsiteX2" fmla="*/ 4692567 w 6355652"/>
              <a:gd name="connsiteY2" fmla="*/ 78022 h 6050127"/>
              <a:gd name="connsiteX3" fmla="*/ 6355652 w 6355652"/>
              <a:gd name="connsiteY3" fmla="*/ 2872301 h 6050127"/>
              <a:gd name="connsiteX4" fmla="*/ 3177826 w 6355652"/>
              <a:gd name="connsiteY4" fmla="*/ 6050127 h 6050127"/>
              <a:gd name="connsiteX5" fmla="*/ 0 w 6355652"/>
              <a:gd name="connsiteY5" fmla="*/ 2872301 h 6050127"/>
              <a:gd name="connsiteX6" fmla="*/ 1663086 w 6355652"/>
              <a:gd name="connsiteY6" fmla="*/ 78022 h 605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6050127">
                <a:moveTo>
                  <a:pt x="1825048" y="0"/>
                </a:moveTo>
                <a:lnTo>
                  <a:pt x="4530604" y="0"/>
                </a:lnTo>
                <a:lnTo>
                  <a:pt x="4692567" y="78022"/>
                </a:lnTo>
                <a:cubicBezTo>
                  <a:pt x="5683175" y="616152"/>
                  <a:pt x="6355652" y="1665694"/>
                  <a:pt x="6355652" y="2872301"/>
                </a:cubicBezTo>
                <a:cubicBezTo>
                  <a:pt x="6355652" y="4627366"/>
                  <a:pt x="4932891" y="6050127"/>
                  <a:pt x="3177826" y="6050127"/>
                </a:cubicBezTo>
                <a:cubicBezTo>
                  <a:pt x="1422761" y="6050127"/>
                  <a:pt x="0" y="4627366"/>
                  <a:pt x="0" y="2872301"/>
                </a:cubicBezTo>
                <a:cubicBezTo>
                  <a:pt x="0" y="1665694"/>
                  <a:pt x="672477" y="616152"/>
                  <a:pt x="1663086" y="78022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8" name="Freeform: Shape 437">
            <a:extLst>
              <a:ext uri="{FF2B5EF4-FFF2-40B4-BE49-F238E27FC236}">
                <a16:creationId xmlns:a16="http://schemas.microsoft.com/office/drawing/2014/main" id="{2B06059C-C357-4011-82B9-9C01063013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5194" y="-1"/>
            <a:ext cx="6705251" cy="6318526"/>
          </a:xfrm>
          <a:custGeom>
            <a:avLst/>
            <a:gdLst>
              <a:gd name="connsiteX0" fmla="*/ 1825048 w 6355652"/>
              <a:gd name="connsiteY0" fmla="*/ 0 h 6050127"/>
              <a:gd name="connsiteX1" fmla="*/ 4530604 w 6355652"/>
              <a:gd name="connsiteY1" fmla="*/ 0 h 6050127"/>
              <a:gd name="connsiteX2" fmla="*/ 4692567 w 6355652"/>
              <a:gd name="connsiteY2" fmla="*/ 78022 h 6050127"/>
              <a:gd name="connsiteX3" fmla="*/ 6355652 w 6355652"/>
              <a:gd name="connsiteY3" fmla="*/ 2872301 h 6050127"/>
              <a:gd name="connsiteX4" fmla="*/ 3177826 w 6355652"/>
              <a:gd name="connsiteY4" fmla="*/ 6050127 h 6050127"/>
              <a:gd name="connsiteX5" fmla="*/ 0 w 6355652"/>
              <a:gd name="connsiteY5" fmla="*/ 2872301 h 6050127"/>
              <a:gd name="connsiteX6" fmla="*/ 1663086 w 6355652"/>
              <a:gd name="connsiteY6" fmla="*/ 78022 h 605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6050127">
                <a:moveTo>
                  <a:pt x="1825048" y="0"/>
                </a:moveTo>
                <a:lnTo>
                  <a:pt x="4530604" y="0"/>
                </a:lnTo>
                <a:lnTo>
                  <a:pt x="4692567" y="78022"/>
                </a:lnTo>
                <a:cubicBezTo>
                  <a:pt x="5683175" y="616152"/>
                  <a:pt x="6355652" y="1665694"/>
                  <a:pt x="6355652" y="2872301"/>
                </a:cubicBezTo>
                <a:cubicBezTo>
                  <a:pt x="6355652" y="4627366"/>
                  <a:pt x="4932891" y="6050127"/>
                  <a:pt x="3177826" y="6050127"/>
                </a:cubicBezTo>
                <a:cubicBezTo>
                  <a:pt x="1422761" y="6050127"/>
                  <a:pt x="0" y="4627366"/>
                  <a:pt x="0" y="2872301"/>
                </a:cubicBezTo>
                <a:cubicBezTo>
                  <a:pt x="0" y="1665694"/>
                  <a:pt x="672477" y="616152"/>
                  <a:pt x="1663086" y="78022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39" name="Freeform: Shape 438">
            <a:extLst>
              <a:ext uri="{FF2B5EF4-FFF2-40B4-BE49-F238E27FC236}">
                <a16:creationId xmlns:a16="http://schemas.microsoft.com/office/drawing/2014/main" id="{5AFEC601-A132-47EE-B0C2-B38ACD9FC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86886" y="-1"/>
            <a:ext cx="6705251" cy="6215019"/>
          </a:xfrm>
          <a:custGeom>
            <a:avLst/>
            <a:gdLst>
              <a:gd name="connsiteX0" fmla="*/ 1529549 w 6355652"/>
              <a:gd name="connsiteY0" fmla="*/ 0 h 5890980"/>
              <a:gd name="connsiteX1" fmla="*/ 4826104 w 6355652"/>
              <a:gd name="connsiteY1" fmla="*/ 0 h 5890980"/>
              <a:gd name="connsiteX2" fmla="*/ 4954579 w 6355652"/>
              <a:gd name="connsiteY2" fmla="*/ 78051 h 5890980"/>
              <a:gd name="connsiteX3" fmla="*/ 6355652 w 6355652"/>
              <a:gd name="connsiteY3" fmla="*/ 2713154 h 5890980"/>
              <a:gd name="connsiteX4" fmla="*/ 3177826 w 6355652"/>
              <a:gd name="connsiteY4" fmla="*/ 5890980 h 5890980"/>
              <a:gd name="connsiteX5" fmla="*/ 0 w 6355652"/>
              <a:gd name="connsiteY5" fmla="*/ 2713154 h 5890980"/>
              <a:gd name="connsiteX6" fmla="*/ 1401073 w 6355652"/>
              <a:gd name="connsiteY6" fmla="*/ 78051 h 5890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5890980">
                <a:moveTo>
                  <a:pt x="1529549" y="0"/>
                </a:moveTo>
                <a:lnTo>
                  <a:pt x="4826104" y="0"/>
                </a:lnTo>
                <a:lnTo>
                  <a:pt x="4954579" y="78051"/>
                </a:lnTo>
                <a:cubicBezTo>
                  <a:pt x="5799886" y="649129"/>
                  <a:pt x="6355652" y="1616239"/>
                  <a:pt x="6355652" y="2713154"/>
                </a:cubicBezTo>
                <a:cubicBezTo>
                  <a:pt x="6355652" y="4468219"/>
                  <a:pt x="4932891" y="5890980"/>
                  <a:pt x="3177826" y="5890980"/>
                </a:cubicBezTo>
                <a:cubicBezTo>
                  <a:pt x="1422761" y="5890980"/>
                  <a:pt x="0" y="4468219"/>
                  <a:pt x="0" y="2713154"/>
                </a:cubicBezTo>
                <a:cubicBezTo>
                  <a:pt x="0" y="1616239"/>
                  <a:pt x="555766" y="649129"/>
                  <a:pt x="1401073" y="78051"/>
                </a:cubicBezTo>
                <a:close/>
              </a:path>
            </a:pathLst>
          </a:cu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AD444F-E4D1-AA51-B66F-72FF7725E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2409" y="895483"/>
            <a:ext cx="5786232" cy="301119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b="1" kern="1200" cap="all" spc="1500" baseline="0" dirty="0">
                <a:latin typeface="Times New Roman"/>
                <a:ea typeface="Source Sans Pro SemiBold"/>
                <a:cs typeface="Times New Roman"/>
              </a:rPr>
              <a:t>Thank you</a:t>
            </a:r>
          </a:p>
        </p:txBody>
      </p:sp>
      <p:sp>
        <p:nvSpPr>
          <p:cNvPr id="440" name="Graphic 212">
            <a:extLst>
              <a:ext uri="{FF2B5EF4-FFF2-40B4-BE49-F238E27FC236}">
                <a16:creationId xmlns:a16="http://schemas.microsoft.com/office/drawing/2014/main" id="{279CAF82-0ECF-42BE-8F37-F71941E5D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188494"/>
            <a:ext cx="1048371" cy="1048371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441" name="Graphic 212">
            <a:extLst>
              <a:ext uri="{FF2B5EF4-FFF2-40B4-BE49-F238E27FC236}">
                <a16:creationId xmlns:a16="http://schemas.microsoft.com/office/drawing/2014/main" id="{218E095B-4870-4AD5-9C41-C16D595235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188494"/>
            <a:ext cx="1048371" cy="1048371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442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583101" y="3578317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45" name="Oval 444">
            <a:extLst>
              <a:ext uri="{FF2B5EF4-FFF2-40B4-BE49-F238E27FC236}">
                <a16:creationId xmlns:a16="http://schemas.microsoft.com/office/drawing/2014/main" id="{033BC44A-0661-43B4-9C14-FD5963C22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4525" y="4910353"/>
            <a:ext cx="468090" cy="468090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46" name="Oval 445">
            <a:extLst>
              <a:ext uri="{FF2B5EF4-FFF2-40B4-BE49-F238E27FC236}">
                <a16:creationId xmlns:a16="http://schemas.microsoft.com/office/drawing/2014/main" id="{BE8CB2F0-2F5A-4EBD-B214-E0309C31F5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4525" y="4910353"/>
            <a:ext cx="468090" cy="46809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47" name="Freeform: Shape 446">
            <a:extLst>
              <a:ext uri="{FF2B5EF4-FFF2-40B4-BE49-F238E27FC236}">
                <a16:creationId xmlns:a16="http://schemas.microsoft.com/office/drawing/2014/main" id="{FFD3887D-244B-4EC4-9208-E304984C5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22467" y="4200769"/>
            <a:ext cx="2769534" cy="2657232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8" name="Freeform: Shape 447">
            <a:extLst>
              <a:ext uri="{FF2B5EF4-FFF2-40B4-BE49-F238E27FC236}">
                <a16:creationId xmlns:a16="http://schemas.microsoft.com/office/drawing/2014/main" id="{97224C31-855E-4593-8A58-5B2B0CC4F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22467" y="4200768"/>
            <a:ext cx="2769534" cy="2657232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939412"/>
      </p:ext>
    </p:extLst>
  </p:cSld>
  <p:clrMapOvr>
    <a:masterClrMapping/>
  </p:clrMapOvr>
</p:sld>
</file>

<file path=ppt/theme/theme1.xml><?xml version="1.0" encoding="utf-8"?>
<a:theme xmlns:a="http://schemas.openxmlformats.org/drawingml/2006/main" name="FunkyShapesVTI">
  <a:themeElements>
    <a:clrScheme name="Custom 15">
      <a:dk1>
        <a:sysClr val="windowText" lastClr="000000"/>
      </a:dk1>
      <a:lt1>
        <a:sysClr val="window" lastClr="FFFFFF"/>
      </a:lt1>
      <a:dk2>
        <a:srgbClr val="2D2D2D"/>
      </a:dk2>
      <a:lt2>
        <a:srgbClr val="F3FFF8"/>
      </a:lt2>
      <a:accent1>
        <a:srgbClr val="FF80BD"/>
      </a:accent1>
      <a:accent2>
        <a:srgbClr val="1EB9D3"/>
      </a:accent2>
      <a:accent3>
        <a:srgbClr val="21C46B"/>
      </a:accent3>
      <a:accent4>
        <a:srgbClr val="EA9600"/>
      </a:accent4>
      <a:accent5>
        <a:srgbClr val="F43B56"/>
      </a:accent5>
      <a:accent6>
        <a:srgbClr val="4B56E8"/>
      </a:accent6>
      <a:hlink>
        <a:srgbClr val="8F61FF"/>
      </a:hlink>
      <a:folHlink>
        <a:srgbClr val="F900A0"/>
      </a:folHlink>
    </a:clrScheme>
    <a:fontScheme name="Source Sans Pro">
      <a:majorFont>
        <a:latin typeface="Source Sans Pro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unkyShapesVTI" id="{A7F40C41-3FB2-45B0-B0D6-DFB7FDD9B7AD}" vid="{C49381A0-09CD-46EE-B141-E2CDD87ABFE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FunkyShapesVTI</vt:lpstr>
      <vt:lpstr>Software Project Lab - 01</vt:lpstr>
      <vt:lpstr>Project Title – Pixel++</vt:lpstr>
      <vt:lpstr>Project Overview</vt:lpstr>
      <vt:lpstr>Project Evolution</vt:lpstr>
      <vt:lpstr>Algorithm Overview</vt:lpstr>
      <vt:lpstr>Results (Denoising)</vt:lpstr>
      <vt:lpstr>Results (Edge Detection)</vt:lpstr>
      <vt:lpstr>Optimization </vt:lpstr>
      <vt:lpstr>Performance &amp; Benchmarking</vt:lpstr>
      <vt:lpstr>Conclusion &amp; Challenges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1253</cp:revision>
  <dcterms:created xsi:type="dcterms:W3CDTF">2026-01-14T18:43:47Z</dcterms:created>
  <dcterms:modified xsi:type="dcterms:W3CDTF">2026-04-22T08:02:00Z</dcterms:modified>
</cp:coreProperties>
</file>