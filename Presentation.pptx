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8D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3619500"/>
            <a:ext cx="9144000" cy="1524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3619500"/>
            <a:ext cx="9144000" cy="1524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90500" y="190500"/>
            <a:ext cx="8763000" cy="4763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95263" y="2609850"/>
            <a:ext cx="5157377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3"/>
              </a:lnSpc>
              <a:buNone/>
            </a:pPr>
            <a:r>
              <a:rPr lang="en-US" sz="1577" spc="-32" kern="0" dirty="0">
                <a:solidFill>
                  <a:srgbClr val="5D5949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structural investigation of gender attrition in software engineering.</a:t>
            </a:r>
            <a:endParaRPr lang="en-US" sz="1577" dirty="0"/>
          </a:p>
        </p:txBody>
      </p:sp>
      <p:sp>
        <p:nvSpPr>
          <p:cNvPr id="6" name="Text 1"/>
          <p:cNvSpPr/>
          <p:nvPr/>
        </p:nvSpPr>
        <p:spPr>
          <a:xfrm>
            <a:off x="195263" y="385763"/>
            <a:ext cx="7272338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75"/>
              </a:lnSpc>
              <a:buNone/>
            </a:pPr>
            <a:r>
              <a:rPr lang="en-US" sz="4275" spc="-214" kern="0" dirty="0">
                <a:solidFill>
                  <a:srgbClr val="090909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Leaky Pipeline: </a:t>
            </a:r>
            <a:endParaRPr lang="en-US" sz="4275" dirty="0"/>
          </a:p>
          <a:p>
            <a:pPr algn="l" indent="0" marL="0">
              <a:lnSpc>
                <a:spcPts val="4275"/>
              </a:lnSpc>
              <a:buNone/>
            </a:pPr>
            <a:r>
              <a:rPr lang="en-US" sz="4275" spc="-214" kern="0" dirty="0">
                <a:solidFill>
                  <a:srgbClr val="090909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do Women Disappear in    Tech?</a:t>
            </a:r>
            <a:endParaRPr lang="en-US" sz="42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8D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90500" y="190500"/>
            <a:ext cx="8763000" cy="4763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00038" y="404813"/>
            <a:ext cx="469106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850" b="1" spc="-142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We Chose this Topic?</a:t>
            </a:r>
            <a:endParaRPr lang="en-US" sz="2850" dirty="0"/>
          </a:p>
        </p:txBody>
      </p:sp>
      <p:sp>
        <p:nvSpPr>
          <p:cNvPr id="5" name="Text 1"/>
          <p:cNvSpPr/>
          <p:nvPr/>
        </p:nvSpPr>
        <p:spPr>
          <a:xfrm>
            <a:off x="390525" y="1238250"/>
            <a:ext cx="408622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lnSpc>
                <a:spcPts val="1710"/>
              </a:lnSpc>
              <a:buSzPct val="100000"/>
              <a:buChar char="•"/>
            </a:pPr>
            <a:r>
              <a:rPr lang="en-US" sz="1710" b="1" spc="-85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Team</a:t>
            </a:r>
            <a:pPr algn="l" indent="0" marL="0">
              <a:lnSpc>
                <a:spcPts val="1710"/>
              </a:lnSpc>
              <a:buNone/>
            </a:pPr>
            <a:r>
              <a:rPr lang="en-US" sz="1710" spc="-85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: Hard Boiled</a:t>
            </a:r>
            <a:endParaRPr lang="en-US" sz="1710" dirty="0"/>
          </a:p>
          <a:p>
            <a:pPr algn="l" marL="342900" indent="-342900">
              <a:lnSpc>
                <a:spcPts val="1710"/>
              </a:lnSpc>
              <a:buSzPct val="100000"/>
              <a:buChar char="•"/>
            </a:pPr>
            <a:r>
              <a:rPr lang="en-US" sz="1710" b="1" spc="-85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Members</a:t>
            </a:r>
            <a:pPr algn="l" indent="0" marL="0">
              <a:lnSpc>
                <a:spcPts val="1710"/>
              </a:lnSpc>
              <a:buNone/>
            </a:pPr>
            <a:r>
              <a:rPr lang="en-US" sz="1710" spc="-85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:</a:t>
            </a:r>
            <a:endParaRPr lang="en-US" sz="1710" dirty="0"/>
          </a:p>
          <a:p>
            <a:pPr algn="l" lvl="1" marL="685800" indent="-342900">
              <a:lnSpc>
                <a:spcPts val="1710"/>
              </a:lnSpc>
              <a:buSzPct val="100000"/>
              <a:buChar char="•"/>
            </a:pPr>
            <a:r>
              <a:rPr lang="en-US" sz="1710" spc="-85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Rashik Raihan (BSSE 1619)</a:t>
            </a:r>
            <a:endParaRPr lang="en-US" sz="1710" dirty="0"/>
          </a:p>
          <a:p>
            <a:pPr algn="l" lvl="1" marL="685800" indent="-342900">
              <a:lnSpc>
                <a:spcPts val="1710"/>
              </a:lnSpc>
              <a:buSzPct val="100000"/>
              <a:buChar char="•"/>
            </a:pPr>
            <a:r>
              <a:rPr lang="en-US" sz="1710" spc="-85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Nafis Ahmed (BSSE 1621)</a:t>
            </a:r>
            <a:endParaRPr lang="en-US" sz="1710" dirty="0"/>
          </a:p>
          <a:p>
            <a:pPr algn="l" lvl="1" marL="685800" indent="-342900">
              <a:lnSpc>
                <a:spcPts val="1710"/>
              </a:lnSpc>
              <a:buSzPct val="100000"/>
              <a:buChar char="•"/>
            </a:pPr>
            <a:r>
              <a:rPr lang="en-US" sz="1710" spc="-85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Naim Islam (BSSE 1635)</a:t>
            </a:r>
            <a:endParaRPr lang="en-US" sz="1710" dirty="0"/>
          </a:p>
          <a:p>
            <a:pPr algn="l" lvl="1" marL="685800" indent="-342900">
              <a:lnSpc>
                <a:spcPts val="1710"/>
              </a:lnSpc>
              <a:buSzPct val="100000"/>
              <a:buChar char="•"/>
            </a:pPr>
            <a:r>
              <a:rPr lang="en-US" sz="1710" spc="-85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Oasi Mahmud (BSSE 1652)</a:t>
            </a:r>
            <a:endParaRPr lang="en-US" sz="1710" dirty="0"/>
          </a:p>
        </p:txBody>
      </p:sp>
      <p:sp>
        <p:nvSpPr>
          <p:cNvPr id="6" name="Text 2"/>
          <p:cNvSpPr/>
          <p:nvPr/>
        </p:nvSpPr>
        <p:spPr>
          <a:xfrm>
            <a:off x="4976813" y="1228725"/>
            <a:ext cx="3290888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710" b="1" spc="-34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Motivation</a:t>
            </a:r>
            <a:pPr algn="l" indent="0" marL="0">
              <a:lnSpc>
                <a:spcPts val="1710"/>
              </a:lnSpc>
              <a:buNone/>
            </a:pPr>
            <a:r>
              <a:rPr lang="en-US" sz="1710" spc="-34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:</a:t>
            </a:r>
            <a:endParaRPr lang="en-US" sz="1710" dirty="0"/>
          </a:p>
          <a:p>
            <a:pPr algn="l" indent="0" marL="0">
              <a:lnSpc>
                <a:spcPts val="1425"/>
              </a:lnSpc>
              <a:buNone/>
            </a:pPr>
            <a:r>
              <a:rPr lang="en-US" sz="1425" spc="-28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 </a:t>
            </a:r>
            <a:pPr algn="l" indent="0" marL="0">
              <a:lnSpc>
                <a:spcPts val="1710"/>
              </a:lnSpc>
              <a:buNone/>
            </a:pPr>
            <a:r>
              <a:rPr lang="en-US" sz="1710" spc="-34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Despite women graduating in STEM at comparable rates to men, far fewer enter and remain in software engineering.</a:t>
            </a:r>
            <a:endParaRPr lang="en-US" sz="1710" dirty="0"/>
          </a:p>
          <a:p>
            <a:pPr algn="l" indent="0" marL="0">
              <a:lnSpc>
                <a:spcPts val="1710"/>
              </a:lnSpc>
              <a:buNone/>
            </a:pPr>
            <a:r>
              <a:rPr lang="en-US" sz="1710" spc="-34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begged the question: Is this a choice issue or a deeply rooted structural problem?</a:t>
            </a:r>
            <a:endParaRPr lang="en-US" sz="1710" dirty="0"/>
          </a:p>
          <a:p>
            <a:pPr algn="l" indent="0" marL="0">
              <a:lnSpc>
                <a:spcPts val="1710"/>
              </a:lnSpc>
              <a:buNone/>
            </a:pPr>
            <a:r>
              <a:rPr lang="en-US" sz="1710" spc="-34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Through our cumulative research regarding the leakage in this pipeline, we map where talent is lost and why.   </a:t>
            </a:r>
            <a:endParaRPr lang="en-US" sz="171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8D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0500" y="190500"/>
            <a:ext cx="8763000" cy="476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53337" y="4819650"/>
            <a:ext cx="130016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998"/>
              </a:lnSpc>
              <a:buNone/>
            </a:pPr>
            <a:r>
              <a:rPr lang="en-US" sz="713" spc="-14" kern="0" dirty="0">
                <a:solidFill>
                  <a:srgbClr val="5D5949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</a:t>
            </a:r>
            <a:endParaRPr lang="en-US" sz="713" dirty="0"/>
          </a:p>
        </p:txBody>
      </p:sp>
      <p:sp>
        <p:nvSpPr>
          <p:cNvPr id="4" name="Text 1"/>
          <p:cNvSpPr/>
          <p:nvPr/>
        </p:nvSpPr>
        <p:spPr>
          <a:xfrm>
            <a:off x="190500" y="571500"/>
            <a:ext cx="42052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850" b="1" spc="-142" kern="0" dirty="0">
                <a:solidFill>
                  <a:srgbClr val="090909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We Researched</a:t>
            </a:r>
            <a:endParaRPr lang="en-US" sz="28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28688" y="1400175"/>
          <a:ext cx="7289976" cy="3417491"/>
        </p:xfrm>
        <a:graphic>
          <a:graphicData uri="http://schemas.openxmlformats.org/drawingml/2006/table">
            <a:tbl>
              <a:tblPr/>
              <a:tblGrid>
                <a:gridCol w="971550"/>
                <a:gridCol w="3209219"/>
                <a:gridCol w="3109207"/>
              </a:tblGrid>
              <a:tr h="41910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25"/>
                        </a:lnSpc>
                        <a:buNone/>
                      </a:pPr>
                      <a:r>
                        <a:rPr lang="en-US" sz="1425" b="1" spc="-28" kern="0" dirty="0">
                          <a:solidFill>
                            <a:srgbClr val="000000">
                              <a:alpha val="99000"/>
                            </a:srgbClr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Step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25"/>
                        </a:lnSpc>
                        <a:buNone/>
                      </a:pPr>
                      <a:r>
                        <a:rPr lang="en-US" sz="1425" b="1" spc="-28" kern="0" dirty="0">
                          <a:solidFill>
                            <a:srgbClr val="000000">
                              <a:alpha val="99000"/>
                            </a:srgbClr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Description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25"/>
                        </a:lnSpc>
                        <a:buNone/>
                      </a:pPr>
                      <a:r>
                        <a:rPr lang="en-US" sz="1425" b="1" spc="-28" kern="0" dirty="0">
                          <a:solidFill>
                            <a:srgbClr val="000000">
                              <a:alpha val="99000"/>
                            </a:srgbClr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Visual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7512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25"/>
                        </a:lnSpc>
                        <a:buNone/>
                      </a:pPr>
                      <a:r>
                        <a:rPr lang="en-US" sz="1425" spc="-28" kern="0" dirty="0">
                          <a:solidFill>
                            <a:srgbClr val="000000">
                              <a:alpha val="99000"/>
                            </a:srgbClr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25"/>
                        </a:lnSpc>
                        <a:buNone/>
                      </a:pPr>
                      <a:r>
                        <a:rPr lang="en-US" sz="1425" spc="-28" kern="0" dirty="0">
                          <a:solidFill>
                            <a:srgbClr val="000000">
                              <a:alpha val="99000"/>
                            </a:srgbClr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Workforce Reports – Analyzed global tech employment stats, gender ratios, and attrition data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25"/>
                        </a:lnSpc>
                        <a:buNone/>
                      </a:pPr>
                      <a:r>
                        <a:rPr lang="en-US" sz="1425" spc="-28" kern="0" dirty="0">
                          <a:solidFill>
                            <a:srgbClr val="000000">
                              <a:alpha val="99000"/>
                            </a:srgbClr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🎓 University Data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35447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25"/>
                        </a:lnSpc>
                        <a:buNone/>
                      </a:pPr>
                      <a:r>
                        <a:rPr lang="en-US" sz="1425" spc="-28" kern="0" dirty="0">
                          <a:solidFill>
                            <a:srgbClr val="000000">
                              <a:alpha val="99000"/>
                            </a:srgbClr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25"/>
                        </a:lnSpc>
                        <a:buNone/>
                      </a:pPr>
                      <a:r>
                        <a:rPr lang="en-US" sz="1425" spc="-28" kern="0" dirty="0">
                          <a:solidFill>
                            <a:srgbClr val="000000">
                              <a:alpha val="99000"/>
                            </a:srgbClr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University Data – Examined STEM enrollment, graduation, and participation trends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25"/>
                        </a:lnSpc>
                        <a:buNone/>
                      </a:pPr>
                      <a:r>
                        <a:rPr lang="en-US" sz="1425" spc="-28" kern="0" dirty="0">
                          <a:solidFill>
                            <a:srgbClr val="000000">
                              <a:alpha val="99000"/>
                            </a:srgbClr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📊 Workforce Reports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8782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25"/>
                        </a:lnSpc>
                        <a:buNone/>
                      </a:pPr>
                      <a:r>
                        <a:rPr lang="en-US" sz="1425" spc="-28" kern="0" dirty="0">
                          <a:solidFill>
                            <a:srgbClr val="000000">
                              <a:alpha val="99000"/>
                            </a:srgbClr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25"/>
                        </a:lnSpc>
                        <a:buNone/>
                      </a:pPr>
                      <a:r>
                        <a:rPr lang="en-US" sz="1425" spc="-28" kern="0" dirty="0">
                          <a:solidFill>
                            <a:srgbClr val="000000">
                              <a:alpha val="99000"/>
                            </a:srgbClr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Surveys &amp; Studies – Reviewed studies on hiring bias, workplace culture, pay gaps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25"/>
                        </a:lnSpc>
                        <a:buNone/>
                      </a:pPr>
                      <a:r>
                        <a:rPr lang="en-US" sz="1425" spc="-28" kern="0" dirty="0">
                          <a:solidFill>
                            <a:srgbClr val="000000">
                              <a:alpha val="99000"/>
                            </a:srgbClr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🔍 Surveys &amp; Studies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373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D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90500" y="190500"/>
            <a:ext cx="8763000" cy="4763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66725" y="423863"/>
            <a:ext cx="591026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850" b="1" spc="-142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Leaky Pipeline Explained</a:t>
            </a:r>
            <a:endParaRPr lang="en-US" sz="2850" dirty="0"/>
          </a:p>
        </p:txBody>
      </p:sp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23875" y="1390650"/>
            <a:ext cx="4143375" cy="3048000"/>
          </a:xfrm>
          <a:prstGeom prst="rect">
            <a:avLst/>
          </a:prstGeom>
        </p:spPr>
      </p:pic>
      <p:pic>
        <p:nvPicPr>
          <p:cNvPr id="6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3033713" y="4076700"/>
            <a:ext cx="457200" cy="457200"/>
          </a:xfrm>
          <a:prstGeom prst="rect">
            <a:avLst/>
          </a:prstGeom>
        </p:spPr>
      </p:pic>
      <p:pic>
        <p:nvPicPr>
          <p:cNvPr id="7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381125" y="2085975"/>
            <a:ext cx="457200" cy="457200"/>
          </a:xfrm>
          <a:prstGeom prst="rect">
            <a:avLst/>
          </a:prstGeom>
        </p:spPr>
      </p:pic>
      <p:pic>
        <p:nvPicPr>
          <p:cNvPr id="8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709738" y="3371850"/>
            <a:ext cx="457200" cy="457200"/>
          </a:xfrm>
          <a:prstGeom prst="rect">
            <a:avLst/>
          </a:prstGeom>
        </p:spPr>
      </p:pic>
      <p:pic>
        <p:nvPicPr>
          <p:cNvPr id="9" name="Image 6" descr="preencoded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3433763" y="1476375"/>
            <a:ext cx="457200" cy="457200"/>
          </a:xfrm>
          <a:prstGeom prst="rect">
            <a:avLst/>
          </a:prstGeom>
        </p:spPr>
      </p:pic>
      <p:pic>
        <p:nvPicPr>
          <p:cNvPr id="10" name="Image 7" descr="preencoded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3376613" y="2686050"/>
            <a:ext cx="457200" cy="457200"/>
          </a:xfrm>
          <a:prstGeom prst="rect">
            <a:avLst/>
          </a:prstGeom>
        </p:spPr>
      </p:pic>
      <p:sp>
        <p:nvSpPr>
          <p:cNvPr id="11" name="Text 1"/>
          <p:cNvSpPr/>
          <p:nvPr/>
        </p:nvSpPr>
        <p:spPr>
          <a:xfrm rot="-22008">
            <a:off x="4648200" y="1933575"/>
            <a:ext cx="4307670" cy="2019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6"/>
              </a:lnSpc>
              <a:buNone/>
            </a:pPr>
            <a:r>
              <a:rPr lang="en-US" sz="1876" spc="-38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‘leaky pipeline’ stands a metaphor for the gradual loss of women in STEM and software engineering careers.</a:t>
            </a:r>
            <a:endParaRPr lang="en-US" sz="1876" dirty="0"/>
          </a:p>
          <a:p>
            <a:pPr algn="l" indent="0" marL="0">
              <a:lnSpc>
                <a:spcPts val="1876"/>
              </a:lnSpc>
              <a:buNone/>
            </a:pPr>
            <a:r>
              <a:rPr lang="en-US" sz="1876" spc="-38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  At each stage, from school to senior leadership, women exit at higher rates than men, creating structural gaps in representation and leadership.</a:t>
            </a:r>
            <a:endParaRPr lang="en-US" sz="187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8D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04800" y="923925"/>
            <a:ext cx="2547938" cy="4672013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04800" y="304800"/>
            <a:ext cx="8534400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04800" y="428625"/>
            <a:ext cx="8058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2280" b="1" spc="-46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Stage 1: Early Education &amp; Social Conditioning</a:t>
            </a:r>
            <a:endParaRPr lang="en-US" sz="2280" dirty="0"/>
          </a:p>
        </p:txBody>
      </p:sp>
      <p:sp>
        <p:nvSpPr>
          <p:cNvPr id="5" name="Text 2"/>
          <p:cNvSpPr/>
          <p:nvPr/>
        </p:nvSpPr>
        <p:spPr>
          <a:xfrm>
            <a:off x="6972300" y="428625"/>
            <a:ext cx="18669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998"/>
              </a:lnSpc>
              <a:buNone/>
            </a:pPr>
            <a:r>
              <a:rPr lang="en-US" sz="713" spc="-14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</a:t>
            </a:r>
            <a:endParaRPr lang="en-US" sz="713" dirty="0"/>
          </a:p>
        </p:txBody>
      </p:sp>
      <p:sp>
        <p:nvSpPr>
          <p:cNvPr id="6" name="Text 3"/>
          <p:cNvSpPr/>
          <p:nvPr/>
        </p:nvSpPr>
        <p:spPr>
          <a:xfrm>
            <a:off x="3595688" y="1457325"/>
            <a:ext cx="4613702" cy="280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lnSpc>
                <a:spcPts val="1737"/>
              </a:lnSpc>
              <a:buSzPct val="100000"/>
              <a:buChar char="•"/>
            </a:pPr>
            <a:r>
              <a:rPr lang="en-US" sz="1240" spc="-25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Cultural Stereotypes: Girls often receive subtle messaging that STEM is “for boys”</a:t>
            </a:r>
            <a:endParaRPr lang="en-US" sz="1240" dirty="0"/>
          </a:p>
          <a:p>
            <a:pPr algn="l" marL="342900" indent="-342900">
              <a:lnSpc>
                <a:spcPts val="1737"/>
              </a:lnSpc>
              <a:buSzPct val="100000"/>
              <a:buChar char="•"/>
            </a:pPr>
            <a:r>
              <a:rPr lang="en-US" sz="1240" spc="-25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Teacher &amp; Peer Influence: Early bias in encouragement, participation, and recognition</a:t>
            </a:r>
            <a:endParaRPr lang="en-US" sz="1240" dirty="0"/>
          </a:p>
          <a:p>
            <a:pPr algn="l" marL="342900" indent="-342900">
              <a:lnSpc>
                <a:spcPts val="1737"/>
              </a:lnSpc>
              <a:buSzPct val="100000"/>
              <a:buChar char="•"/>
            </a:pPr>
            <a:r>
              <a:rPr lang="en-US" sz="1240" spc="-25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Interest Gap Formation: By middle school, fewer girls pursue STEM extracurricular or electives</a:t>
            </a:r>
            <a:endParaRPr lang="en-US" sz="1240" dirty="0"/>
          </a:p>
          <a:p>
            <a:pPr algn="l" marL="342900" indent="-342900">
              <a:lnSpc>
                <a:spcPts val="1737"/>
              </a:lnSpc>
              <a:buSzPct val="100000"/>
              <a:buChar char="•"/>
            </a:pPr>
            <a:r>
              <a:rPr lang="en-US" sz="1240" spc="-25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Early Decision Impact: These early leaks reduce the number of girls entering STEM degrees, starting the long-term attrition process</a:t>
            </a:r>
            <a:endParaRPr lang="en-US" sz="12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2D6B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8996" t="0" b="84707"/>
          <a:stretch/>
        </p:blipFill>
        <p:spPr>
          <a:xfrm>
            <a:off x="-451977" y="4100147"/>
            <a:ext cx="9144000" cy="1043353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04800" y="304800"/>
            <a:ext cx="8534400" cy="0"/>
          </a:xfrm>
          <a:prstGeom prst="line">
            <a:avLst/>
          </a:prstGeom>
          <a:noFill/>
          <a:ln w="4524">
            <a:solidFill>
              <a:srgbClr val="1E334C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972300" y="428625"/>
            <a:ext cx="18669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705"/>
              </a:lnSpc>
              <a:buNone/>
            </a:pPr>
            <a:r>
              <a:rPr lang="en-US" sz="641" spc="32" kern="0" dirty="0">
                <a:solidFill>
                  <a:srgbClr val="1E334C">
                    <a:alpha val="99000"/>
                  </a:srgbClr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6</a:t>
            </a:r>
            <a:endParaRPr lang="en-US" sz="641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04800" y="1343025"/>
            <a:ext cx="3933825" cy="290512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04800" y="428625"/>
            <a:ext cx="70485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08"/>
              </a:lnSpc>
              <a:buNone/>
            </a:pPr>
            <a:r>
              <a:rPr lang="en-US" sz="2280" b="1" spc="-91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Stage 2: Higher Ed &amp; Prejudice</a:t>
            </a:r>
            <a:endParaRPr lang="en-US" sz="2280" dirty="0"/>
          </a:p>
        </p:txBody>
      </p:sp>
      <p:sp>
        <p:nvSpPr>
          <p:cNvPr id="7" name="Text 3"/>
          <p:cNvSpPr/>
          <p:nvPr/>
        </p:nvSpPr>
        <p:spPr>
          <a:xfrm>
            <a:off x="4414838" y="1319213"/>
            <a:ext cx="4561323" cy="292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lnSpc>
                <a:spcPts val="1472"/>
              </a:lnSpc>
              <a:buSzPct val="100000"/>
              <a:buChar char="•"/>
            </a:pPr>
            <a:r>
              <a:rPr lang="en-US" sz="1338" spc="67" kern="0" dirty="0">
                <a:solidFill>
                  <a:srgbClr val="000000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Implicit Bias: Professors and peers may favor male students in participation and recognition</a:t>
            </a:r>
            <a:endParaRPr lang="en-US" sz="1338" dirty="0"/>
          </a:p>
          <a:p>
            <a:pPr algn="l" marL="342900" indent="-342900">
              <a:lnSpc>
                <a:spcPts val="1472"/>
              </a:lnSpc>
              <a:buSzPct val="100000"/>
              <a:buChar char="•"/>
            </a:pPr>
            <a:r>
              <a:rPr lang="en-US" sz="1338" spc="67" kern="0" dirty="0">
                <a:solidFill>
                  <a:srgbClr val="000000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Stereotype Threat: Women perform worse when reminded of negative stereotypes about STEM competence</a:t>
            </a:r>
            <a:endParaRPr lang="en-US" sz="1338" dirty="0"/>
          </a:p>
          <a:p>
            <a:pPr algn="l" marL="342900" indent="-342900">
              <a:lnSpc>
                <a:spcPts val="1472"/>
              </a:lnSpc>
              <a:buSzPct val="100000"/>
              <a:buChar char="•"/>
            </a:pPr>
            <a:r>
              <a:rPr lang="en-US" sz="1338" spc="67" kern="0" dirty="0">
                <a:solidFill>
                  <a:srgbClr val="000000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Networking &amp; Mentorship Gaps: Fewer role models and mentors for women in advanced courses</a:t>
            </a:r>
            <a:endParaRPr lang="en-US" sz="1338" dirty="0"/>
          </a:p>
          <a:p>
            <a:pPr algn="l" marL="342900" indent="-342900">
              <a:lnSpc>
                <a:spcPts val="1472"/>
              </a:lnSpc>
              <a:buSzPct val="100000"/>
              <a:buChar char="•"/>
            </a:pPr>
            <a:r>
              <a:rPr lang="en-US" sz="1338" spc="67" kern="0" dirty="0">
                <a:solidFill>
                  <a:srgbClr val="000000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Program Attrition: Many women switch majors or avoid STEM-intensive tracks due to bias or lack of support</a:t>
            </a:r>
            <a:endParaRPr lang="en-US" sz="13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B7D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17134"/>
          <a:stretch/>
        </p:blipFill>
        <p:spPr>
          <a:xfrm>
            <a:off x="0" y="-657039"/>
            <a:ext cx="9141702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04800" y="304800"/>
            <a:ext cx="8534400" cy="0"/>
          </a:xfrm>
          <a:prstGeom prst="line">
            <a:avLst/>
          </a:prstGeom>
          <a:noFill/>
          <a:ln w="4524">
            <a:solidFill>
              <a:srgbClr val="1E334C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3421" t="0" b="0"/>
          <a:stretch/>
        </p:blipFill>
        <p:spPr>
          <a:xfrm>
            <a:off x="4572000" y="747713"/>
            <a:ext cx="4572000" cy="39243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972300" y="428625"/>
            <a:ext cx="18669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705"/>
              </a:lnSpc>
              <a:buNone/>
            </a:pPr>
            <a:r>
              <a:rPr lang="en-US" sz="641" spc="32" kern="0" dirty="0">
                <a:solidFill>
                  <a:srgbClr val="1E334C">
                    <a:alpha val="99000"/>
                  </a:srgbClr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7</a:t>
            </a:r>
            <a:endParaRPr lang="en-US" sz="641" dirty="0"/>
          </a:p>
        </p:txBody>
      </p:sp>
      <p:sp>
        <p:nvSpPr>
          <p:cNvPr id="6" name="Text 2"/>
          <p:cNvSpPr/>
          <p:nvPr/>
        </p:nvSpPr>
        <p:spPr>
          <a:xfrm>
            <a:off x="347663" y="528638"/>
            <a:ext cx="3490913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08"/>
              </a:lnSpc>
              <a:buNone/>
            </a:pPr>
            <a:r>
              <a:rPr lang="en-US" sz="2280" b="1" spc="114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Stage 3: First Jobs &amp; Early Barriers</a:t>
            </a:r>
            <a:endParaRPr lang="en-US" sz="2280" dirty="0"/>
          </a:p>
        </p:txBody>
      </p:sp>
      <p:sp>
        <p:nvSpPr>
          <p:cNvPr id="7" name="Text 3"/>
          <p:cNvSpPr/>
          <p:nvPr/>
        </p:nvSpPr>
        <p:spPr>
          <a:xfrm>
            <a:off x="280988" y="1776413"/>
            <a:ext cx="4217547" cy="2290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lnSpc>
                <a:spcPts val="1320"/>
              </a:lnSpc>
              <a:buSzPct val="100000"/>
              <a:buChar char="•"/>
            </a:pPr>
            <a:r>
              <a:rPr lang="en-US" sz="1200" spc="60" kern="0" dirty="0">
                <a:solidFill>
                  <a:srgbClr val="000000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Bias in Assignments: Women often receive less challenging or less “prestige” projects</a:t>
            </a:r>
            <a:endParaRPr lang="en-US" sz="1200" dirty="0"/>
          </a:p>
          <a:p>
            <a:pPr algn="l" marL="342900" indent="-342900">
              <a:lnSpc>
                <a:spcPts val="1320"/>
              </a:lnSpc>
              <a:buSzPct val="100000"/>
              <a:buChar char="•"/>
            </a:pPr>
            <a:r>
              <a:rPr lang="en-US" sz="1200" spc="60" kern="0" dirty="0">
                <a:solidFill>
                  <a:srgbClr val="000000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Early Performance vs. Potential Gap: Men are promoted on perceived potential; women on proven performance</a:t>
            </a:r>
            <a:endParaRPr lang="en-US" sz="1200" dirty="0"/>
          </a:p>
          <a:p>
            <a:pPr algn="l" marL="342900" indent="-342900">
              <a:lnSpc>
                <a:spcPts val="1320"/>
              </a:lnSpc>
              <a:buSzPct val="100000"/>
              <a:buChar char="•"/>
            </a:pPr>
            <a:r>
              <a:rPr lang="en-US" sz="1200" spc="60" kern="0" dirty="0">
                <a:solidFill>
                  <a:srgbClr val="000000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Social Exclusion: Networking, after-work socialization, and mentorship often favor men</a:t>
            </a:r>
            <a:endParaRPr lang="en-US" sz="1200" dirty="0"/>
          </a:p>
          <a:p>
            <a:pPr algn="l" marL="342900" indent="-342900">
              <a:lnSpc>
                <a:spcPts val="1320"/>
              </a:lnSpc>
              <a:buSzPct val="100000"/>
              <a:buChar char="•"/>
            </a:pPr>
            <a:r>
              <a:rPr lang="en-US" sz="1200" spc="60" kern="0" dirty="0">
                <a:solidFill>
                  <a:srgbClr val="000000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Promotions Matter: Missing early advancement opportunities creates long-term attrition risk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EE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10623" t="0" b="84224"/>
          <a:stretch/>
        </p:blipFill>
        <p:spPr>
          <a:xfrm>
            <a:off x="-847488" y="4047608"/>
            <a:ext cx="9144000" cy="10958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04800" y="3233738"/>
            <a:ext cx="26955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998" spc="50" kern="0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Early promotions disproportionately favor men, creating long-term gaps</a:t>
            </a:r>
            <a:endParaRPr lang="en-US" sz="998" dirty="0"/>
          </a:p>
        </p:txBody>
      </p:sp>
      <p:sp>
        <p:nvSpPr>
          <p:cNvPr id="4" name="Text 1"/>
          <p:cNvSpPr/>
          <p:nvPr/>
        </p:nvSpPr>
        <p:spPr>
          <a:xfrm>
            <a:off x="3224213" y="3262313"/>
            <a:ext cx="26955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998" spc="50" kern="0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Non-promotable tasks slow career advancement for women</a:t>
            </a:r>
            <a:endParaRPr lang="en-US" sz="998" dirty="0"/>
          </a:p>
        </p:txBody>
      </p:sp>
      <p:sp>
        <p:nvSpPr>
          <p:cNvPr id="5" name="Text 2"/>
          <p:cNvSpPr/>
          <p:nvPr/>
        </p:nvSpPr>
        <p:spPr>
          <a:xfrm>
            <a:off x="6143625" y="3233738"/>
            <a:ext cx="26955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998" spc="50" kern="0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Caregiving responsibilities intersect with career growth, leading to exits</a:t>
            </a:r>
            <a:endParaRPr lang="en-US" sz="998" dirty="0"/>
          </a:p>
        </p:txBody>
      </p:sp>
      <p:sp>
        <p:nvSpPr>
          <p:cNvPr id="6" name="Text 3"/>
          <p:cNvSpPr/>
          <p:nvPr/>
        </p:nvSpPr>
        <p:spPr>
          <a:xfrm>
            <a:off x="304800" y="2962275"/>
            <a:ext cx="2695575" cy="147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998" spc="-40" kern="0" dirty="0">
                <a:solidFill>
                  <a:srgbClr val="1E334C">
                    <a:alpha val="99000"/>
                  </a:srgbClr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BROKEN RUNG</a:t>
            </a:r>
            <a:endParaRPr lang="en-US" sz="998" dirty="0"/>
          </a:p>
        </p:txBody>
      </p:sp>
      <p:sp>
        <p:nvSpPr>
          <p:cNvPr id="7" name="Text 4"/>
          <p:cNvSpPr/>
          <p:nvPr/>
        </p:nvSpPr>
        <p:spPr>
          <a:xfrm>
            <a:off x="3224213" y="2962275"/>
            <a:ext cx="2695575" cy="147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998" spc="-40" kern="0" dirty="0">
                <a:solidFill>
                  <a:srgbClr val="1E334C">
                    <a:alpha val="99000"/>
                  </a:srgbClr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GLUE WORK &amp; INVISIBLE LABOR</a:t>
            </a:r>
            <a:endParaRPr lang="en-US" sz="998" dirty="0"/>
          </a:p>
        </p:txBody>
      </p:sp>
      <p:sp>
        <p:nvSpPr>
          <p:cNvPr id="8" name="Text 5"/>
          <p:cNvSpPr/>
          <p:nvPr/>
        </p:nvSpPr>
        <p:spPr>
          <a:xfrm>
            <a:off x="6143625" y="2962275"/>
            <a:ext cx="2695575" cy="147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998" spc="-40" kern="0" dirty="0">
                <a:solidFill>
                  <a:srgbClr val="1E334C">
                    <a:alpha val="99000"/>
                  </a:srgbClr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MOTHERHOOD PENALTY</a:t>
            </a:r>
            <a:endParaRPr lang="en-US" sz="998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04800" y="1138238"/>
            <a:ext cx="2695575" cy="167163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224213" y="1138238"/>
            <a:ext cx="2695575" cy="1671638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43625" y="1138238"/>
            <a:ext cx="2695575" cy="1671638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304800" y="304800"/>
            <a:ext cx="8534400" cy="0"/>
          </a:xfrm>
          <a:prstGeom prst="line">
            <a:avLst/>
          </a:prstGeom>
          <a:noFill/>
          <a:ln w="4524">
            <a:solidFill>
              <a:srgbClr val="1E334C"/>
            </a:solidFill>
            <a:prstDash val="solid"/>
          </a:ln>
        </p:spPr>
      </p:sp>
      <p:sp>
        <p:nvSpPr>
          <p:cNvPr id="13" name="Text 7"/>
          <p:cNvSpPr/>
          <p:nvPr/>
        </p:nvSpPr>
        <p:spPr>
          <a:xfrm>
            <a:off x="6972300" y="428625"/>
            <a:ext cx="18669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705"/>
              </a:lnSpc>
              <a:buNone/>
            </a:pPr>
            <a:r>
              <a:rPr lang="en-US" sz="641" spc="32" kern="0" dirty="0">
                <a:solidFill>
                  <a:srgbClr val="1E334C">
                    <a:alpha val="99000"/>
                  </a:srgbClr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8</a:t>
            </a:r>
            <a:endParaRPr lang="en-US" sz="641" dirty="0"/>
          </a:p>
        </p:txBody>
      </p:sp>
      <p:sp>
        <p:nvSpPr>
          <p:cNvPr id="14" name="Text 8"/>
          <p:cNvSpPr/>
          <p:nvPr/>
        </p:nvSpPr>
        <p:spPr>
          <a:xfrm>
            <a:off x="300038" y="428625"/>
            <a:ext cx="6891338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08"/>
              </a:lnSpc>
              <a:buNone/>
            </a:pPr>
            <a:r>
              <a:rPr lang="en-US" sz="2280" b="1" spc="114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Stage 4: Mid-Career Exit – The Big Leak</a:t>
            </a:r>
            <a:endParaRPr lang="en-US" sz="22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EE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10623" t="0" b="84224"/>
          <a:stretch/>
        </p:blipFill>
        <p:spPr>
          <a:xfrm>
            <a:off x="-847488" y="4047608"/>
            <a:ext cx="9144000" cy="10958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04800" y="304800"/>
            <a:ext cx="8534400" cy="0"/>
          </a:xfrm>
          <a:prstGeom prst="line">
            <a:avLst/>
          </a:prstGeom>
          <a:noFill/>
          <a:ln w="4524">
            <a:solidFill>
              <a:srgbClr val="1E334C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28638" y="1414463"/>
            <a:ext cx="2695575" cy="167163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28638" y="3257550"/>
            <a:ext cx="2695575" cy="147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998" spc="-40" kern="0" dirty="0">
                <a:solidFill>
                  <a:srgbClr val="1E334C">
                    <a:alpha val="99000"/>
                  </a:srgbClr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GLASS CEILING</a:t>
            </a:r>
            <a:endParaRPr lang="en-US" sz="998" dirty="0"/>
          </a:p>
        </p:txBody>
      </p:sp>
      <p:sp>
        <p:nvSpPr>
          <p:cNvPr id="6" name="Text 2"/>
          <p:cNvSpPr/>
          <p:nvPr/>
        </p:nvSpPr>
        <p:spPr>
          <a:xfrm>
            <a:off x="528638" y="3557588"/>
            <a:ext cx="26955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998" spc="50" kern="0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Invisible barriers block women from executive roles</a:t>
            </a:r>
            <a:endParaRPr lang="en-US" sz="998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67200" y="1414463"/>
            <a:ext cx="2695575" cy="167163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4267200" y="3257550"/>
            <a:ext cx="2695575" cy="147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998" spc="-40" kern="0" dirty="0">
                <a:solidFill>
                  <a:srgbClr val="1E334C">
                    <a:alpha val="99000"/>
                  </a:srgbClr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SPONSORSHIP &amp; NETWORKING</a:t>
            </a:r>
            <a:endParaRPr lang="en-US" sz="998" dirty="0"/>
          </a:p>
        </p:txBody>
      </p:sp>
      <p:sp>
        <p:nvSpPr>
          <p:cNvPr id="9" name="Text 4"/>
          <p:cNvSpPr/>
          <p:nvPr/>
        </p:nvSpPr>
        <p:spPr>
          <a:xfrm>
            <a:off x="4276725" y="3557588"/>
            <a:ext cx="26955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998" spc="50" kern="0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Few senior leaders advocate for women, limiting opportunities</a:t>
            </a:r>
            <a:endParaRPr lang="en-US" sz="998" dirty="0"/>
          </a:p>
        </p:txBody>
      </p:sp>
      <p:sp>
        <p:nvSpPr>
          <p:cNvPr id="10" name="Text 5"/>
          <p:cNvSpPr/>
          <p:nvPr/>
        </p:nvSpPr>
        <p:spPr>
          <a:xfrm>
            <a:off x="6972300" y="428625"/>
            <a:ext cx="18669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705"/>
              </a:lnSpc>
              <a:buNone/>
            </a:pPr>
            <a:r>
              <a:rPr lang="en-US" sz="641" spc="32" kern="0" dirty="0">
                <a:solidFill>
                  <a:srgbClr val="1E334C">
                    <a:alpha val="99000"/>
                  </a:srgbClr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9</a:t>
            </a:r>
            <a:endParaRPr lang="en-US" sz="641" dirty="0"/>
          </a:p>
        </p:txBody>
      </p:sp>
      <p:sp>
        <p:nvSpPr>
          <p:cNvPr id="11" name="Text 6"/>
          <p:cNvSpPr/>
          <p:nvPr/>
        </p:nvSpPr>
        <p:spPr>
          <a:xfrm>
            <a:off x="314325" y="428625"/>
            <a:ext cx="509587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08"/>
              </a:lnSpc>
              <a:buNone/>
            </a:pPr>
            <a:r>
              <a:rPr lang="en-US" sz="2280" b="1" spc="114" kern="0" dirty="0">
                <a:solidFill>
                  <a:srgbClr val="000000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Stage 5: Senior Leadership – The Glass Ceiling</a:t>
            </a:r>
            <a:endParaRPr lang="en-US" sz="2280" dirty="0"/>
          </a:p>
        </p:txBody>
      </p:sp>
      <p:sp>
        <p:nvSpPr>
          <p:cNvPr id="12" name="Text 7"/>
          <p:cNvSpPr/>
          <p:nvPr/>
        </p:nvSpPr>
        <p:spPr>
          <a:xfrm>
            <a:off x="7296150" y="1657350"/>
            <a:ext cx="1728788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64"/>
              </a:lnSpc>
              <a:buNone/>
            </a:pPr>
            <a:r>
              <a:rPr lang="en-US" sz="1149" b="1" spc="57" kern="0" dirty="0">
                <a:solidFill>
                  <a:srgbClr val="000000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Cumulative Impact</a:t>
            </a:r>
            <a:pPr algn="l" indent="0" marL="0">
              <a:lnSpc>
                <a:spcPts val="1264"/>
              </a:lnSpc>
              <a:buNone/>
            </a:pPr>
            <a:r>
              <a:rPr lang="en-US" sz="1149" spc="57" kern="0" dirty="0">
                <a:solidFill>
                  <a:srgbClr val="000000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:</a:t>
            </a:r>
            <a:endParaRPr lang="en-US" sz="1149" dirty="0"/>
          </a:p>
          <a:p>
            <a:pPr algn="l" indent="0" marL="0">
              <a:lnSpc>
                <a:spcPts val="1264"/>
              </a:lnSpc>
              <a:buNone/>
            </a:pPr>
            <a:r>
              <a:rPr lang="en-US" sz="1149" spc="57" kern="0" dirty="0">
                <a:solidFill>
                  <a:srgbClr val="000000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Attrition and systemic bias drastically reduce female representation in top leadership</a:t>
            </a:r>
            <a:endParaRPr lang="en-US" sz="1149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rcRect l="0" r="8946" t="0" b="0"/>
          <a:stretch/>
        </p:blipFill>
        <p:spPr>
          <a:xfrm>
            <a:off x="6962775" y="1033462"/>
            <a:ext cx="2181225" cy="25241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EE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4800" y="304800"/>
            <a:ext cx="8534400" cy="0"/>
          </a:xfrm>
          <a:prstGeom prst="line">
            <a:avLst/>
          </a:prstGeom>
          <a:noFill/>
          <a:ln w="4524">
            <a:solidFill>
              <a:srgbClr val="1E334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0">
            <a:off x="304800" y="3043238"/>
            <a:ext cx="8539163" cy="0"/>
          </a:xfrm>
          <a:prstGeom prst="line">
            <a:avLst/>
          </a:prstGeom>
          <a:noFill/>
          <a:ln w="9049">
            <a:solidFill>
              <a:srgbClr val="1E334C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82492" y="1227302"/>
            <a:ext cx="9525" cy="18159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336256" y="2797011"/>
            <a:ext cx="492454" cy="492454"/>
          </a:xfrm>
          <a:prstGeom prst="ellipse">
            <a:avLst/>
          </a:prstGeom>
          <a:solidFill>
            <a:srgbClr val="C2D6B4"/>
          </a:solidFill>
          <a:ln/>
        </p:spPr>
      </p:sp>
      <p:sp>
        <p:nvSpPr>
          <p:cNvPr id="6" name="Shape 3"/>
          <p:cNvSpPr/>
          <p:nvPr/>
        </p:nvSpPr>
        <p:spPr>
          <a:xfrm>
            <a:off x="304800" y="2797011"/>
            <a:ext cx="492454" cy="492454"/>
          </a:xfrm>
          <a:prstGeom prst="ellipse">
            <a:avLst/>
          </a:prstGeom>
          <a:solidFill>
            <a:srgbClr val="EEEEE7"/>
          </a:solidFill>
          <a:ln/>
        </p:spPr>
      </p:sp>
      <p:sp>
        <p:nvSpPr>
          <p:cNvPr id="7" name="Shape 4"/>
          <p:cNvSpPr/>
          <p:nvPr/>
        </p:nvSpPr>
        <p:spPr>
          <a:xfrm>
            <a:off x="6434751" y="2797011"/>
            <a:ext cx="492454" cy="492454"/>
          </a:xfrm>
          <a:prstGeom prst="ellipse">
            <a:avLst/>
          </a:prstGeom>
          <a:solidFill>
            <a:srgbClr val="EEEEE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3417" y="1254593"/>
            <a:ext cx="9525" cy="181593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07181" y="2797011"/>
            <a:ext cx="492454" cy="492454"/>
          </a:xfrm>
          <a:prstGeom prst="ellipse">
            <a:avLst/>
          </a:prstGeom>
          <a:solidFill>
            <a:srgbClr val="1E334C"/>
          </a:solidFill>
          <a:ln/>
        </p:spPr>
      </p:sp>
      <p:sp>
        <p:nvSpPr>
          <p:cNvPr id="10" name="Shape 6"/>
          <p:cNvSpPr/>
          <p:nvPr/>
        </p:nvSpPr>
        <p:spPr>
          <a:xfrm>
            <a:off x="666750" y="1252538"/>
            <a:ext cx="2517642" cy="1319213"/>
          </a:xfrm>
          <a:prstGeom prst="rect">
            <a:avLst/>
          </a:prstGeom>
          <a:noFill/>
          <a:ln/>
        </p:spPr>
      </p:sp>
      <p:sp>
        <p:nvSpPr>
          <p:cNvPr id="11" name="Text 7"/>
          <p:cNvSpPr/>
          <p:nvPr/>
        </p:nvSpPr>
        <p:spPr>
          <a:xfrm>
            <a:off x="666750" y="1252538"/>
            <a:ext cx="251764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46"/>
              </a:lnSpc>
              <a:buNone/>
            </a:pPr>
            <a:r>
              <a:rPr lang="en-US" sz="1496" spc="-60" kern="0" dirty="0">
                <a:solidFill>
                  <a:srgbClr val="1E334C">
                    <a:alpha val="99000"/>
                  </a:srgbClr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01</a:t>
            </a:r>
            <a:endParaRPr lang="en-US" sz="1496" dirty="0"/>
          </a:p>
        </p:txBody>
      </p:sp>
      <p:sp>
        <p:nvSpPr>
          <p:cNvPr id="12" name="Text 8"/>
          <p:cNvSpPr/>
          <p:nvPr/>
        </p:nvSpPr>
        <p:spPr>
          <a:xfrm>
            <a:off x="666750" y="1662113"/>
            <a:ext cx="2517642" cy="909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54"/>
              </a:lnSpc>
              <a:buNone/>
            </a:pPr>
            <a:r>
              <a:rPr lang="en-US" sz="1140" b="1" spc="57" kern="0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Early Education (School Level)</a:t>
            </a:r>
            <a:endParaRPr lang="en-US" sz="1140" dirty="0"/>
          </a:p>
          <a:p>
            <a:pPr algn="l" marL="342900" indent="-342900">
              <a:lnSpc>
                <a:spcPts val="1254"/>
              </a:lnSpc>
              <a:buSzPct val="100000"/>
              <a:buChar char="•"/>
            </a:pPr>
            <a:r>
              <a:rPr lang="en-US" sz="1140" spc="57" kern="0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Encourage girls in STEM</a:t>
            </a:r>
            <a:endParaRPr lang="en-US" sz="1140" dirty="0"/>
          </a:p>
          <a:p>
            <a:pPr algn="l" marL="342900" indent="-342900">
              <a:lnSpc>
                <a:spcPts val="1254"/>
              </a:lnSpc>
              <a:buSzPct val="100000"/>
              <a:buChar char="•"/>
            </a:pPr>
            <a:r>
              <a:rPr lang="en-US" sz="1140" spc="57" kern="0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Challenge stereotypes early</a:t>
            </a:r>
            <a:endParaRPr lang="en-US" sz="1140" dirty="0"/>
          </a:p>
          <a:p>
            <a:pPr algn="l" marL="342900" indent="-342900">
              <a:lnSpc>
                <a:spcPts val="1254"/>
              </a:lnSpc>
              <a:buSzPct val="100000"/>
              <a:buChar char="•"/>
            </a:pPr>
            <a:r>
              <a:rPr lang="en-US" sz="1140" spc="57" kern="0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Provide visible female role models</a:t>
            </a:r>
            <a:endParaRPr lang="en-US" sz="114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566764" y="3024188"/>
            <a:ext cx="9525" cy="1815936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2320528" y="2797011"/>
            <a:ext cx="492454" cy="492454"/>
          </a:xfrm>
          <a:prstGeom prst="ellipse">
            <a:avLst/>
          </a:prstGeom>
          <a:solidFill>
            <a:srgbClr val="B7D8FF"/>
          </a:solidFill>
          <a:ln/>
        </p:spPr>
      </p:sp>
      <p:sp>
        <p:nvSpPr>
          <p:cNvPr id="15" name="Shape 10"/>
          <p:cNvSpPr/>
          <p:nvPr/>
        </p:nvSpPr>
        <p:spPr>
          <a:xfrm>
            <a:off x="4695825" y="947737"/>
            <a:ext cx="2462213" cy="1719263"/>
          </a:xfrm>
          <a:prstGeom prst="rect">
            <a:avLst/>
          </a:prstGeom>
          <a:noFill/>
          <a:ln/>
        </p:spPr>
      </p:sp>
      <p:sp>
        <p:nvSpPr>
          <p:cNvPr id="16" name="Text 11"/>
          <p:cNvSpPr/>
          <p:nvPr/>
        </p:nvSpPr>
        <p:spPr>
          <a:xfrm>
            <a:off x="4695825" y="947737"/>
            <a:ext cx="2462213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46"/>
              </a:lnSpc>
              <a:buNone/>
            </a:pPr>
            <a:r>
              <a:rPr lang="en-US" sz="1496" spc="-60" kern="0" dirty="0">
                <a:solidFill>
                  <a:srgbClr val="1E334C">
                    <a:alpha val="99000"/>
                  </a:srgbClr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03</a:t>
            </a:r>
            <a:endParaRPr lang="en-US" sz="1496" dirty="0"/>
          </a:p>
        </p:txBody>
      </p:sp>
      <p:sp>
        <p:nvSpPr>
          <p:cNvPr id="17" name="Shape 12"/>
          <p:cNvSpPr/>
          <p:nvPr/>
        </p:nvSpPr>
        <p:spPr>
          <a:xfrm>
            <a:off x="4695825" y="1166813"/>
            <a:ext cx="2462213" cy="1500188"/>
          </a:xfrm>
          <a:prstGeom prst="rect">
            <a:avLst/>
          </a:prstGeom>
          <a:noFill/>
          <a:ln/>
        </p:spPr>
      </p:sp>
      <p:sp>
        <p:nvSpPr>
          <p:cNvPr id="18" name="Text 13"/>
          <p:cNvSpPr/>
          <p:nvPr/>
        </p:nvSpPr>
        <p:spPr>
          <a:xfrm>
            <a:off x="4695825" y="1166813"/>
            <a:ext cx="2462213" cy="150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54"/>
              </a:lnSpc>
              <a:buNone/>
            </a:pPr>
            <a:r>
              <a:rPr lang="en-US" sz="1140" b="1" spc="57" kern="0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Early Career (Entry-Level Jobs)</a:t>
            </a:r>
            <a:endParaRPr lang="en-US" sz="1140" dirty="0"/>
          </a:p>
          <a:p>
            <a:pPr algn="l" marL="342900" indent="-342900">
              <a:lnSpc>
                <a:spcPts val="1254"/>
              </a:lnSpc>
              <a:buSzPct val="100000"/>
              <a:buChar char="•"/>
            </a:pPr>
            <a:r>
              <a:rPr lang="en-US" sz="1140" spc="57" kern="0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Transparent promotion criteria</a:t>
            </a:r>
            <a:endParaRPr lang="en-US" sz="1140" dirty="0"/>
          </a:p>
          <a:p>
            <a:pPr algn="l" marL="342900" indent="-342900">
              <a:lnSpc>
                <a:spcPts val="1254"/>
              </a:lnSpc>
              <a:buSzPct val="100000"/>
              <a:buChar char="•"/>
            </a:pPr>
            <a:r>
              <a:rPr lang="en-US" sz="1140" spc="57" kern="0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Equal access to mentorship &amp; sponsorship</a:t>
            </a:r>
            <a:endParaRPr lang="en-US" sz="1140" dirty="0"/>
          </a:p>
          <a:p>
            <a:pPr algn="l" marL="342900" indent="-342900">
              <a:lnSpc>
                <a:spcPts val="1254"/>
              </a:lnSpc>
              <a:buSzPct val="100000"/>
              <a:buChar char="•"/>
            </a:pPr>
            <a:r>
              <a:rPr lang="en-US" sz="1140" spc="57" kern="0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Address pay gaps and biased evaluations</a:t>
            </a:r>
            <a:endParaRPr lang="en-US" sz="1140" dirty="0"/>
          </a:p>
        </p:txBody>
      </p:sp>
      <p:sp>
        <p:nvSpPr>
          <p:cNvPr id="19" name="Shape 14"/>
          <p:cNvSpPr/>
          <p:nvPr/>
        </p:nvSpPr>
        <p:spPr>
          <a:xfrm>
            <a:off x="2814638" y="3290888"/>
            <a:ext cx="2042331" cy="1609725"/>
          </a:xfrm>
          <a:prstGeom prst="rect">
            <a:avLst/>
          </a:prstGeom>
          <a:noFill/>
          <a:ln/>
        </p:spPr>
      </p:sp>
      <p:sp>
        <p:nvSpPr>
          <p:cNvPr id="20" name="Text 15"/>
          <p:cNvSpPr/>
          <p:nvPr/>
        </p:nvSpPr>
        <p:spPr>
          <a:xfrm>
            <a:off x="2814638" y="3290888"/>
            <a:ext cx="2042331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46"/>
              </a:lnSpc>
              <a:buNone/>
            </a:pPr>
            <a:r>
              <a:rPr lang="en-US" sz="1496" spc="-60" kern="0" dirty="0">
                <a:solidFill>
                  <a:srgbClr val="1E334C">
                    <a:alpha val="99000"/>
                  </a:srgbClr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02</a:t>
            </a:r>
            <a:endParaRPr lang="en-US" sz="1496" dirty="0"/>
          </a:p>
        </p:txBody>
      </p:sp>
      <p:sp>
        <p:nvSpPr>
          <p:cNvPr id="21" name="Shape 16"/>
          <p:cNvSpPr/>
          <p:nvPr/>
        </p:nvSpPr>
        <p:spPr>
          <a:xfrm>
            <a:off x="2814638" y="3700463"/>
            <a:ext cx="2042331" cy="1200150"/>
          </a:xfrm>
          <a:prstGeom prst="rect">
            <a:avLst/>
          </a:prstGeom>
          <a:noFill/>
          <a:ln/>
        </p:spPr>
      </p:sp>
      <p:sp>
        <p:nvSpPr>
          <p:cNvPr id="22" name="Text 17"/>
          <p:cNvSpPr/>
          <p:nvPr/>
        </p:nvSpPr>
        <p:spPr>
          <a:xfrm>
            <a:off x="2814638" y="3700463"/>
            <a:ext cx="2042331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54"/>
              </a:lnSpc>
              <a:buNone/>
            </a:pPr>
            <a:r>
              <a:rPr lang="en-US" sz="1140" b="1" spc="57" kern="0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University Level</a:t>
            </a:r>
            <a:endParaRPr lang="en-US" sz="1140" dirty="0"/>
          </a:p>
          <a:p>
            <a:pPr algn="l" marL="342900" indent="-342900">
              <a:lnSpc>
                <a:spcPts val="1254"/>
              </a:lnSpc>
              <a:buSzPct val="100000"/>
              <a:buChar char="•"/>
            </a:pPr>
            <a:r>
              <a:rPr lang="en-US" sz="1140" spc="57" kern="0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Inclusive classroom culture</a:t>
            </a:r>
            <a:endParaRPr lang="en-US" sz="1140" dirty="0"/>
          </a:p>
          <a:p>
            <a:pPr algn="l" marL="342900" indent="-342900">
              <a:lnSpc>
                <a:spcPts val="1254"/>
              </a:lnSpc>
              <a:buSzPct val="100000"/>
              <a:buChar char="•"/>
            </a:pPr>
            <a:r>
              <a:rPr lang="en-US" sz="1140" spc="57" kern="0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Anti-bias training for faculty</a:t>
            </a:r>
            <a:endParaRPr lang="en-US" sz="1140" dirty="0"/>
          </a:p>
          <a:p>
            <a:pPr algn="l" marL="342900" indent="-342900">
              <a:lnSpc>
                <a:spcPts val="1254"/>
              </a:lnSpc>
              <a:buSzPct val="100000"/>
              <a:buChar char="•"/>
            </a:pPr>
            <a:r>
              <a:rPr lang="en-US" sz="1140" spc="57" kern="0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Mentorship programs for female students</a:t>
            </a:r>
            <a:endParaRPr lang="en-US" sz="114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680969" y="3024188"/>
            <a:ext cx="9525" cy="1815936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6434733" y="2797011"/>
            <a:ext cx="492454" cy="49245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5" name="Shape 19"/>
          <p:cNvSpPr/>
          <p:nvPr/>
        </p:nvSpPr>
        <p:spPr>
          <a:xfrm>
            <a:off x="6796088" y="3290888"/>
            <a:ext cx="2047875" cy="1776413"/>
          </a:xfrm>
          <a:prstGeom prst="rect">
            <a:avLst/>
          </a:prstGeom>
          <a:noFill/>
          <a:ln/>
        </p:spPr>
      </p:sp>
      <p:sp>
        <p:nvSpPr>
          <p:cNvPr id="26" name="Text 20"/>
          <p:cNvSpPr/>
          <p:nvPr/>
        </p:nvSpPr>
        <p:spPr>
          <a:xfrm>
            <a:off x="6796088" y="3290888"/>
            <a:ext cx="204787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46"/>
              </a:lnSpc>
              <a:buNone/>
            </a:pPr>
            <a:r>
              <a:rPr lang="en-US" sz="1496" spc="-60" kern="0" dirty="0">
                <a:solidFill>
                  <a:srgbClr val="1E334C">
                    <a:alpha val="99000"/>
                  </a:srgbClr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04</a:t>
            </a:r>
            <a:endParaRPr lang="en-US" sz="1496" dirty="0"/>
          </a:p>
        </p:txBody>
      </p:sp>
      <p:sp>
        <p:nvSpPr>
          <p:cNvPr id="27" name="Text 21"/>
          <p:cNvSpPr/>
          <p:nvPr/>
        </p:nvSpPr>
        <p:spPr>
          <a:xfrm>
            <a:off x="6796088" y="3509963"/>
            <a:ext cx="2042331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54"/>
              </a:lnSpc>
              <a:buNone/>
            </a:pPr>
            <a:r>
              <a:rPr lang="en-US" sz="1140" b="1" spc="57" kern="0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Mid–Senior Career</a:t>
            </a:r>
            <a:endParaRPr lang="en-US" sz="1140" dirty="0"/>
          </a:p>
          <a:p>
            <a:pPr algn="l" marL="342900" indent="-342900">
              <a:lnSpc>
                <a:spcPts val="1254"/>
              </a:lnSpc>
              <a:buSzPct val="100000"/>
              <a:buChar char="•"/>
            </a:pPr>
            <a:r>
              <a:rPr lang="en-US" sz="1140" spc="57" kern="0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Fix the Broken Rung</a:t>
            </a:r>
            <a:endParaRPr lang="en-US" sz="1140" dirty="0"/>
          </a:p>
          <a:p>
            <a:pPr algn="l" marL="342900" indent="-342900">
              <a:lnSpc>
                <a:spcPts val="1254"/>
              </a:lnSpc>
              <a:buSzPct val="100000"/>
              <a:buChar char="•"/>
            </a:pPr>
            <a:r>
              <a:rPr lang="en-US" sz="1140" spc="57" kern="0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Recognize and reward “glue work”</a:t>
            </a:r>
            <a:endParaRPr lang="en-US" sz="1140" dirty="0"/>
          </a:p>
          <a:p>
            <a:pPr algn="l" marL="342900" indent="-342900">
              <a:lnSpc>
                <a:spcPts val="1254"/>
              </a:lnSpc>
              <a:buSzPct val="100000"/>
              <a:buChar char="•"/>
            </a:pPr>
            <a:r>
              <a:rPr lang="en-US" sz="1140" spc="57" kern="0" dirty="0">
                <a:solidFill>
                  <a:srgbClr val="1E334C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Equitable parental leave &amp; flexible policies</a:t>
            </a:r>
            <a:endParaRPr lang="en-US" sz="114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rcRect l="0" r="46778" t="0" b="-2147"/>
          <a:stretch/>
        </p:blipFill>
        <p:spPr>
          <a:xfrm>
            <a:off x="8530311" y="2882131"/>
            <a:ext cx="166929" cy="32038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6972300" y="428625"/>
            <a:ext cx="186690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705"/>
              </a:lnSpc>
              <a:buNone/>
            </a:pPr>
            <a:r>
              <a:rPr lang="en-US" sz="641" spc="32" kern="0" dirty="0">
                <a:solidFill>
                  <a:srgbClr val="1E334C">
                    <a:alpha val="99000"/>
                  </a:srgbClr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10</a:t>
            </a:r>
            <a:endParaRPr lang="en-US" sz="641" dirty="0"/>
          </a:p>
        </p:txBody>
      </p:sp>
      <p:sp>
        <p:nvSpPr>
          <p:cNvPr id="30" name="Text 23"/>
          <p:cNvSpPr/>
          <p:nvPr/>
        </p:nvSpPr>
        <p:spPr>
          <a:xfrm>
            <a:off x="352425" y="419100"/>
            <a:ext cx="63817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08"/>
              </a:lnSpc>
              <a:buNone/>
            </a:pPr>
            <a:r>
              <a:rPr lang="en-US" sz="2280" b="1" spc="114" kern="0" dirty="0">
                <a:solidFill>
                  <a:srgbClr val="000000">
                    <a:alpha val="99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Fixing the Pipeline: What Can Be Done?</a:t>
            </a:r>
            <a:endParaRPr lang="en-US" sz="22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8D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57913" y="0"/>
            <a:ext cx="2986088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90500" y="190500"/>
            <a:ext cx="5776913" cy="4763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57913" y="0"/>
            <a:ext cx="2986088" cy="51435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90500" y="381000"/>
            <a:ext cx="5776913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850" b="1" spc="-142" kern="0" dirty="0">
                <a:solidFill>
                  <a:srgbClr val="090909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Conclusion: Talent Is Not the Problem</a:t>
            </a:r>
            <a:endParaRPr lang="en-US" sz="2850" dirty="0"/>
          </a:p>
        </p:txBody>
      </p:sp>
      <p:sp>
        <p:nvSpPr>
          <p:cNvPr id="6" name="Text 1"/>
          <p:cNvSpPr/>
          <p:nvPr/>
        </p:nvSpPr>
        <p:spPr>
          <a:xfrm>
            <a:off x="190500" y="1814513"/>
            <a:ext cx="5110014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lnSpc>
                <a:spcPts val="2004"/>
              </a:lnSpc>
              <a:buSzPct val="100000"/>
              <a:buChar char="•"/>
            </a:pPr>
            <a:r>
              <a:rPr lang="en-US" sz="2004" spc="-40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gender gap in software engineering is structural, not biological.</a:t>
            </a:r>
            <a:endParaRPr lang="en-US" sz="2004" dirty="0"/>
          </a:p>
          <a:p>
            <a:pPr algn="l" marL="342900" indent="-342900">
              <a:lnSpc>
                <a:spcPts val="2004"/>
              </a:lnSpc>
              <a:buSzPct val="100000"/>
              <a:buChar char="•"/>
            </a:pPr>
            <a:r>
              <a:rPr lang="en-US" sz="2004" spc="-40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Barriers accumulate across education, career entry, and leadership.</a:t>
            </a:r>
            <a:endParaRPr lang="en-US" sz="2004" dirty="0"/>
          </a:p>
          <a:p>
            <a:pPr algn="l" marL="342900" indent="-342900">
              <a:lnSpc>
                <a:spcPts val="2004"/>
              </a:lnSpc>
              <a:buSzPct val="100000"/>
              <a:buChar char="•"/>
            </a:pPr>
            <a:r>
              <a:rPr lang="en-US" sz="2004" spc="-40" kern="0" dirty="0">
                <a:solidFill>
                  <a:srgbClr val="000000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Fixing systems, not “fixing women” is the real solution.</a:t>
            </a:r>
            <a:endParaRPr lang="en-US" sz="2004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D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0500" y="190500"/>
            <a:ext cx="8763000" cy="4763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rcRect l="0" r="11" t="0" b="0"/>
          <a:stretch/>
        </p:blipFill>
        <p:spPr>
          <a:xfrm>
            <a:off x="-967" y="0"/>
            <a:ext cx="9143033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176588" y="1350169"/>
            <a:ext cx="50863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850" spc="-142" kern="0" dirty="0">
                <a:solidFill>
                  <a:srgbClr val="090909">
                    <a:alpha val="99000"/>
                  </a:srgbClr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“Maybe, just maybe, if we stopped only looking in the mirror and began looking beyond it, we could create opportunities for them to soar.”</a:t>
            </a:r>
            <a:endParaRPr lang="en-US" sz="2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2026-02-22T05:36:59Z</dcterms:created>
  <dcterms:modified xsi:type="dcterms:W3CDTF">2026-02-22T05:36:59Z</dcterms:modified>
</cp:coreProperties>
</file>