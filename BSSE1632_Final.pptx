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2" r:id="rId4"/>
    <p:sldId id="258" r:id="rId5"/>
    <p:sldId id="273" r:id="rId6"/>
    <p:sldId id="264" r:id="rId7"/>
    <p:sldId id="274" r:id="rId8"/>
    <p:sldId id="271" r:id="rId9"/>
    <p:sldId id="270" r:id="rId10"/>
    <p:sldId id="272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22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0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34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99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71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28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0A5C60">
              <a:alpha val="6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560320" cy="2560320"/>
          </a:xfrm>
          <a:prstGeom prst="ellipse">
            <a:avLst/>
          </a:prstGeom>
          <a:solidFill>
            <a:srgbClr val="0A5C60">
              <a:alpha val="5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7441672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115211"/>
            <a:ext cx="5212080" cy="1326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LAB-1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2055116"/>
            <a:ext cx="2560320" cy="45719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49476"/>
            <a:ext cx="5120640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Asshifa Sultana 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BSSE 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926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584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0A5C60">
              <a:alpha val="6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560320" cy="2560320"/>
          </a:xfrm>
          <a:prstGeom prst="ellipse">
            <a:avLst/>
          </a:prstGeom>
          <a:solidFill>
            <a:srgbClr val="0A5C60">
              <a:alpha val="50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7441672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8229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STEGOFUSION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256032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ALGORITHM BASED IMAGE STEGANOGRAPHY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578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816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</a:t>
            </a:r>
            <a:r>
              <a:rPr lang="en-US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Dr. </a:t>
            </a:r>
            <a:r>
              <a:rPr lang="en-US" dirty="0" err="1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Emon</a:t>
            </a:r>
            <a:r>
              <a:rPr lang="en-US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Kumar </a:t>
            </a:r>
            <a:r>
              <a:rPr lang="en-US" dirty="0" err="1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 ·  IIT, University of Dhaka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84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90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3060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5537" y="96012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6012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307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/>
              <a:t>Securely hides text data inside BMP images using multiple algorithms.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18888" y="953625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96012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0332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46904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46904" y="13028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compression, error detection and LSB embedding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" y="228600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28600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" y="2641491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randomized pixel selection to avoid detectable patterns.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18888" y="228600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28600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2359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4690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46904" y="270662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smtClean="0"/>
              <a:t>Preserves image quality with minimum visual distortion.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61188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611880"/>
            <a:ext cx="54864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18888" y="3611880"/>
            <a:ext cx="416052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611880"/>
            <a:ext cx="54864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46904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46904" y="4029222"/>
            <a:ext cx="3840480" cy="582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Displays details after embedding, including modified pixel count, exports the data to CSV file.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502803" y="4029222"/>
            <a:ext cx="3925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 transmit the </a:t>
            </a:r>
            <a:r>
              <a:rPr lang="en-US" sz="1400" dirty="0" err="1"/>
              <a:t>stego</a:t>
            </a:r>
            <a:r>
              <a:rPr lang="en-US" sz="1400" dirty="0"/>
              <a:t> image securely to a receiver over a network using simple TCP socket communication.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at a Glance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0584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1. </a:t>
            </a:r>
            <a:r>
              <a:rPr lang="en-US" sz="1400" b="1" dirty="0"/>
              <a:t>Huffman Compression</a:t>
            </a:r>
            <a:r>
              <a:rPr lang="en-US" sz="1400" dirty="0"/>
              <a:t> Compresses the secret message before embedding using a frequency-based binary tree, reducing the number of bits that need to be stored in the image.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013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2. </a:t>
            </a:r>
            <a:r>
              <a:rPr lang="en-US" sz="1400" b="1" dirty="0"/>
              <a:t>Hamming Error Correction</a:t>
            </a:r>
            <a:r>
              <a:rPr lang="en-US" sz="1400" dirty="0"/>
              <a:t> Encodes every 4 data bits into 7 bits by adding parity bits, allowing the system to automatically detect and correct single-bit errors during extraction.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968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3. Logistic Chaotic Map</a:t>
            </a:r>
            <a:r>
              <a:rPr lang="en-US" sz="1400" dirty="0"/>
              <a:t> Scatters the embedded bits across randomly permuted pixel positions using a nonlinear chaotic function, making the data placement unpredictable and resistant to detection.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92424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39242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/>
              <a:t>4. </a:t>
            </a:r>
            <a:r>
              <a:rPr lang="en-US" sz="1400" b="1" dirty="0"/>
              <a:t>LSB Embedding</a:t>
            </a:r>
            <a:r>
              <a:rPr lang="en-US" sz="1400" dirty="0"/>
              <a:t> Hides secret text by modifying the least significant bit of selected image pixels, keeping visual changes imperceptible to the human eye.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87952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8795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5. TCP Socket Transmission</a:t>
            </a:r>
            <a:r>
              <a:rPr lang="en-US" sz="1400" dirty="0"/>
              <a:t> Allows the sender to transmit the </a:t>
            </a:r>
            <a:r>
              <a:rPr lang="en-US" sz="1400" dirty="0" err="1"/>
              <a:t>stego</a:t>
            </a:r>
            <a:r>
              <a:rPr lang="en-US" sz="1400" dirty="0"/>
              <a:t> image directly to a receiver over a network by entering their IP address and port, using a simple TCP socket connection.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33772" y="1069879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33772" y="171910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Shape 5"/>
          <p:cNvSpPr/>
          <p:nvPr/>
        </p:nvSpPr>
        <p:spPr>
          <a:xfrm>
            <a:off x="553212" y="1238515"/>
            <a:ext cx="1097280" cy="685800"/>
          </a:xfrm>
          <a:prstGeom prst="rect">
            <a:avLst/>
          </a:prstGeom>
          <a:solidFill>
            <a:srgbClr val="00736B"/>
          </a:solidFill>
          <a:ln w="12700">
            <a:solidFill>
              <a:srgbClr val="00736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6"/>
          <p:cNvSpPr/>
          <p:nvPr/>
        </p:nvSpPr>
        <p:spPr>
          <a:xfrm>
            <a:off x="553212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9" name="Shape 7"/>
          <p:cNvSpPr/>
          <p:nvPr/>
        </p:nvSpPr>
        <p:spPr>
          <a:xfrm>
            <a:off x="1677924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/>
          <p:cNvSpPr/>
          <p:nvPr/>
        </p:nvSpPr>
        <p:spPr>
          <a:xfrm>
            <a:off x="1732788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9"/>
          <p:cNvSpPr/>
          <p:nvPr/>
        </p:nvSpPr>
        <p:spPr>
          <a:xfrm>
            <a:off x="1901952" y="1239540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10"/>
          <p:cNvSpPr/>
          <p:nvPr/>
        </p:nvSpPr>
        <p:spPr>
          <a:xfrm>
            <a:off x="1906524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100" dirty="0"/>
          </a:p>
        </p:txBody>
      </p:sp>
      <p:sp>
        <p:nvSpPr>
          <p:cNvPr id="33" name="Shape 11"/>
          <p:cNvSpPr/>
          <p:nvPr/>
        </p:nvSpPr>
        <p:spPr>
          <a:xfrm>
            <a:off x="3031236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2"/>
          <p:cNvSpPr/>
          <p:nvPr/>
        </p:nvSpPr>
        <p:spPr>
          <a:xfrm>
            <a:off x="3086100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13"/>
          <p:cNvSpPr/>
          <p:nvPr/>
        </p:nvSpPr>
        <p:spPr>
          <a:xfrm>
            <a:off x="3259836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14"/>
          <p:cNvSpPr/>
          <p:nvPr/>
        </p:nvSpPr>
        <p:spPr>
          <a:xfrm>
            <a:off x="3259836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37" name="Shape 15"/>
          <p:cNvSpPr/>
          <p:nvPr/>
        </p:nvSpPr>
        <p:spPr>
          <a:xfrm>
            <a:off x="4384548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/>
          <p:cNvSpPr/>
          <p:nvPr/>
        </p:nvSpPr>
        <p:spPr>
          <a:xfrm>
            <a:off x="4439412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17"/>
          <p:cNvSpPr/>
          <p:nvPr/>
        </p:nvSpPr>
        <p:spPr>
          <a:xfrm>
            <a:off x="4613148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18"/>
          <p:cNvSpPr/>
          <p:nvPr/>
        </p:nvSpPr>
        <p:spPr>
          <a:xfrm>
            <a:off x="4613148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41" name="Shape 19"/>
          <p:cNvSpPr/>
          <p:nvPr/>
        </p:nvSpPr>
        <p:spPr>
          <a:xfrm>
            <a:off x="5737860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0"/>
          <p:cNvSpPr/>
          <p:nvPr/>
        </p:nvSpPr>
        <p:spPr>
          <a:xfrm>
            <a:off x="5792724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21"/>
          <p:cNvSpPr/>
          <p:nvPr/>
        </p:nvSpPr>
        <p:spPr>
          <a:xfrm>
            <a:off x="5966460" y="1238515"/>
            <a:ext cx="1097280" cy="685800"/>
          </a:xfrm>
          <a:prstGeom prst="rect">
            <a:avLst/>
          </a:prstGeom>
          <a:solidFill>
            <a:srgbClr val="028A80"/>
          </a:solidFill>
          <a:ln w="12700">
            <a:solidFill>
              <a:srgbClr val="028A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22"/>
          <p:cNvSpPr/>
          <p:nvPr/>
        </p:nvSpPr>
        <p:spPr>
          <a:xfrm>
            <a:off x="5966460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45" name="Shape 23"/>
          <p:cNvSpPr/>
          <p:nvPr/>
        </p:nvSpPr>
        <p:spPr>
          <a:xfrm>
            <a:off x="7091172" y="1581415"/>
            <a:ext cx="201168" cy="0"/>
          </a:xfrm>
          <a:prstGeom prst="line">
            <a:avLst/>
          </a:prstGeom>
          <a:noFill/>
          <a:ln w="19050">
            <a:solidFill>
              <a:srgbClr val="007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4"/>
          <p:cNvSpPr/>
          <p:nvPr/>
        </p:nvSpPr>
        <p:spPr>
          <a:xfrm>
            <a:off x="7146036" y="1462543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00736B"/>
                </a:solidFill>
              </a:rPr>
              <a:t>▶</a:t>
            </a:r>
            <a:endParaRPr lang="en-US" sz="900" dirty="0"/>
          </a:p>
        </p:txBody>
      </p:sp>
      <p:sp>
        <p:nvSpPr>
          <p:cNvPr id="47" name="Shape 25"/>
          <p:cNvSpPr/>
          <p:nvPr/>
        </p:nvSpPr>
        <p:spPr>
          <a:xfrm>
            <a:off x="7319772" y="1238515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26"/>
          <p:cNvSpPr/>
          <p:nvPr/>
        </p:nvSpPr>
        <p:spPr>
          <a:xfrm>
            <a:off x="7319772" y="1238515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49" name="Shape 28"/>
          <p:cNvSpPr/>
          <p:nvPr/>
        </p:nvSpPr>
        <p:spPr>
          <a:xfrm>
            <a:off x="547585" y="2572673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29"/>
          <p:cNvSpPr/>
          <p:nvPr/>
        </p:nvSpPr>
        <p:spPr>
          <a:xfrm>
            <a:off x="547585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1672297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52" name="Text 31"/>
          <p:cNvSpPr/>
          <p:nvPr/>
        </p:nvSpPr>
        <p:spPr>
          <a:xfrm>
            <a:off x="1727161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Shape 32"/>
          <p:cNvSpPr/>
          <p:nvPr/>
        </p:nvSpPr>
        <p:spPr>
          <a:xfrm>
            <a:off x="1900897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33"/>
          <p:cNvSpPr/>
          <p:nvPr/>
        </p:nvSpPr>
        <p:spPr>
          <a:xfrm>
            <a:off x="1900897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55" name="Shape 34"/>
          <p:cNvSpPr/>
          <p:nvPr/>
        </p:nvSpPr>
        <p:spPr>
          <a:xfrm>
            <a:off x="3025609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56" name="Text 35"/>
          <p:cNvSpPr/>
          <p:nvPr/>
        </p:nvSpPr>
        <p:spPr>
          <a:xfrm>
            <a:off x="3080473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57" name="Shape 36"/>
          <p:cNvSpPr/>
          <p:nvPr/>
        </p:nvSpPr>
        <p:spPr>
          <a:xfrm>
            <a:off x="3254209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3254209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59" name="Shape 38"/>
          <p:cNvSpPr/>
          <p:nvPr/>
        </p:nvSpPr>
        <p:spPr>
          <a:xfrm>
            <a:off x="4378921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0" name="Text 39"/>
          <p:cNvSpPr/>
          <p:nvPr/>
        </p:nvSpPr>
        <p:spPr>
          <a:xfrm>
            <a:off x="4433785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1" name="Shape 40"/>
          <p:cNvSpPr/>
          <p:nvPr/>
        </p:nvSpPr>
        <p:spPr>
          <a:xfrm>
            <a:off x="4607521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41"/>
          <p:cNvSpPr/>
          <p:nvPr/>
        </p:nvSpPr>
        <p:spPr>
          <a:xfrm>
            <a:off x="4607521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63" name="Shape 42"/>
          <p:cNvSpPr/>
          <p:nvPr/>
        </p:nvSpPr>
        <p:spPr>
          <a:xfrm>
            <a:off x="5732233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4" name="Text 43"/>
          <p:cNvSpPr/>
          <p:nvPr/>
        </p:nvSpPr>
        <p:spPr>
          <a:xfrm>
            <a:off x="5787097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5" name="Shape 44"/>
          <p:cNvSpPr/>
          <p:nvPr/>
        </p:nvSpPr>
        <p:spPr>
          <a:xfrm>
            <a:off x="5960833" y="2572673"/>
            <a:ext cx="1097280" cy="685800"/>
          </a:xfrm>
          <a:prstGeom prst="rect">
            <a:avLst/>
          </a:prstGeom>
          <a:solidFill>
            <a:srgbClr val="C8830A"/>
          </a:solidFill>
          <a:ln w="12700">
            <a:solidFill>
              <a:srgbClr val="C883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45"/>
          <p:cNvSpPr/>
          <p:nvPr/>
        </p:nvSpPr>
        <p:spPr>
          <a:xfrm>
            <a:off x="5960833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</a:t>
            </a:r>
            <a:endParaRPr lang="en-US" sz="1100" dirty="0"/>
          </a:p>
        </p:txBody>
      </p:sp>
      <p:sp>
        <p:nvSpPr>
          <p:cNvPr id="67" name="Shape 46"/>
          <p:cNvSpPr/>
          <p:nvPr/>
        </p:nvSpPr>
        <p:spPr>
          <a:xfrm>
            <a:off x="7085545" y="2915573"/>
            <a:ext cx="201168" cy="0"/>
          </a:xfrm>
          <a:prstGeom prst="line">
            <a:avLst/>
          </a:prstGeom>
          <a:noFill/>
          <a:ln w="19050">
            <a:solidFill>
              <a:srgbClr val="C8830A"/>
            </a:solidFill>
            <a:prstDash val="solid"/>
          </a:ln>
        </p:spPr>
      </p:sp>
      <p:sp>
        <p:nvSpPr>
          <p:cNvPr id="68" name="Text 47"/>
          <p:cNvSpPr/>
          <p:nvPr/>
        </p:nvSpPr>
        <p:spPr>
          <a:xfrm>
            <a:off x="7140409" y="2796701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830A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48"/>
          <p:cNvSpPr/>
          <p:nvPr/>
        </p:nvSpPr>
        <p:spPr>
          <a:xfrm>
            <a:off x="7314145" y="2572673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Text 49"/>
          <p:cNvSpPr/>
          <p:nvPr/>
        </p:nvSpPr>
        <p:spPr>
          <a:xfrm>
            <a:off x="7314145" y="257267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71" name="Shape 51"/>
          <p:cNvSpPr/>
          <p:nvPr/>
        </p:nvSpPr>
        <p:spPr>
          <a:xfrm>
            <a:off x="562004" y="3940536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52"/>
          <p:cNvSpPr/>
          <p:nvPr/>
        </p:nvSpPr>
        <p:spPr>
          <a:xfrm>
            <a:off x="562004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</a:t>
            </a:r>
            <a:endParaRPr lang="en-US" sz="1100" dirty="0"/>
          </a:p>
        </p:txBody>
      </p:sp>
      <p:sp>
        <p:nvSpPr>
          <p:cNvPr id="73" name="Shape 53"/>
          <p:cNvSpPr/>
          <p:nvPr/>
        </p:nvSpPr>
        <p:spPr>
          <a:xfrm>
            <a:off x="1686716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74" name="Text 54"/>
          <p:cNvSpPr/>
          <p:nvPr/>
        </p:nvSpPr>
        <p:spPr>
          <a:xfrm>
            <a:off x="1741580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75" name="Shape 55"/>
          <p:cNvSpPr/>
          <p:nvPr/>
        </p:nvSpPr>
        <p:spPr>
          <a:xfrm>
            <a:off x="1915316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6" name="Text 56"/>
          <p:cNvSpPr/>
          <p:nvPr/>
        </p:nvSpPr>
        <p:spPr>
          <a:xfrm>
            <a:off x="1915316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  <p:sp>
        <p:nvSpPr>
          <p:cNvPr id="77" name="Shape 57"/>
          <p:cNvSpPr/>
          <p:nvPr/>
        </p:nvSpPr>
        <p:spPr>
          <a:xfrm>
            <a:off x="3040028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78" name="Text 58"/>
          <p:cNvSpPr/>
          <p:nvPr/>
        </p:nvSpPr>
        <p:spPr>
          <a:xfrm>
            <a:off x="3094892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79" name="Shape 59"/>
          <p:cNvSpPr/>
          <p:nvPr/>
        </p:nvSpPr>
        <p:spPr>
          <a:xfrm>
            <a:off x="3268628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Text 60"/>
          <p:cNvSpPr/>
          <p:nvPr/>
        </p:nvSpPr>
        <p:spPr>
          <a:xfrm>
            <a:off x="3268628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100" dirty="0"/>
          </a:p>
        </p:txBody>
      </p:sp>
      <p:sp>
        <p:nvSpPr>
          <p:cNvPr id="81" name="Shape 61"/>
          <p:cNvSpPr/>
          <p:nvPr/>
        </p:nvSpPr>
        <p:spPr>
          <a:xfrm>
            <a:off x="4393340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82" name="Text 62"/>
          <p:cNvSpPr/>
          <p:nvPr/>
        </p:nvSpPr>
        <p:spPr>
          <a:xfrm>
            <a:off x="4448204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83" name="Shape 63"/>
          <p:cNvSpPr/>
          <p:nvPr/>
        </p:nvSpPr>
        <p:spPr>
          <a:xfrm>
            <a:off x="4621940" y="3940536"/>
            <a:ext cx="1097280" cy="685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64"/>
          <p:cNvSpPr/>
          <p:nvPr/>
        </p:nvSpPr>
        <p:spPr>
          <a:xfrm>
            <a:off x="4621940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</a:t>
            </a:r>
            <a:endParaRPr lang="en-US" sz="1100" dirty="0"/>
          </a:p>
        </p:txBody>
      </p:sp>
      <p:sp>
        <p:nvSpPr>
          <p:cNvPr id="85" name="Shape 65"/>
          <p:cNvSpPr/>
          <p:nvPr/>
        </p:nvSpPr>
        <p:spPr>
          <a:xfrm>
            <a:off x="5746652" y="4283436"/>
            <a:ext cx="201168" cy="0"/>
          </a:xfrm>
          <a:prstGeom prst="line">
            <a:avLst/>
          </a:prstGeom>
          <a:noFill/>
          <a:ln w="19050">
            <a:solidFill>
              <a:srgbClr val="1A4A8A"/>
            </a:solidFill>
            <a:prstDash val="solid"/>
          </a:ln>
        </p:spPr>
      </p:sp>
      <p:sp>
        <p:nvSpPr>
          <p:cNvPr id="86" name="Text 66"/>
          <p:cNvSpPr/>
          <p:nvPr/>
        </p:nvSpPr>
        <p:spPr>
          <a:xfrm>
            <a:off x="5801516" y="416456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▶</a:t>
            </a:r>
            <a:endParaRPr lang="en-US" sz="900" dirty="0"/>
          </a:p>
        </p:txBody>
      </p:sp>
      <p:sp>
        <p:nvSpPr>
          <p:cNvPr id="87" name="Shape 67"/>
          <p:cNvSpPr/>
          <p:nvPr/>
        </p:nvSpPr>
        <p:spPr>
          <a:xfrm>
            <a:off x="5975252" y="3940536"/>
            <a:ext cx="1097280" cy="685800"/>
          </a:xfrm>
          <a:prstGeom prst="rect">
            <a:avLst/>
          </a:prstGeom>
          <a:solidFill>
            <a:srgbClr val="1A6B63"/>
          </a:solidFill>
          <a:ln w="12700">
            <a:solidFill>
              <a:srgbClr val="1A6B6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Text 68"/>
          <p:cNvSpPr/>
          <p:nvPr/>
        </p:nvSpPr>
        <p:spPr>
          <a:xfrm>
            <a:off x="5975252" y="394053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15" name="Rectangle 14"/>
          <p:cNvSpPr/>
          <p:nvPr/>
        </p:nvSpPr>
        <p:spPr>
          <a:xfrm>
            <a:off x="544068" y="968289"/>
            <a:ext cx="107156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8" name="Rectangle 17"/>
          <p:cNvSpPr/>
          <p:nvPr/>
        </p:nvSpPr>
        <p:spPr>
          <a:xfrm>
            <a:off x="553212" y="2322625"/>
            <a:ext cx="93166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564231" y="3635423"/>
            <a:ext cx="110158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 smtClean="0">
                <a:solidFill>
                  <a:srgbClr val="00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78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87052"/>
            <a:ext cx="3924588" cy="296374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630" y="1051365"/>
            <a:ext cx="3423138" cy="2999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22070"/>
            <a:ext cx="2728722" cy="27287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4050792"/>
            <a:ext cx="2728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</a:t>
            </a:r>
            <a:r>
              <a:rPr lang="en-US" sz="1400" dirty="0" smtClean="0"/>
              <a:t>ena.bmp</a:t>
            </a:r>
            <a:endParaRPr lang="en-US" sz="1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322070"/>
            <a:ext cx="2728956" cy="27289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0" y="3997569"/>
            <a:ext cx="2728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Stego.bmp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931985" y="969264"/>
            <a:ext cx="1641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Before</a:t>
            </a:r>
            <a:endParaRPr lang="en-US" sz="1400" dirty="0"/>
          </a:p>
        </p:txBody>
      </p:sp>
      <p:sp>
        <p:nvSpPr>
          <p:cNvPr id="22" name="Rectangle 21"/>
          <p:cNvSpPr/>
          <p:nvPr/>
        </p:nvSpPr>
        <p:spPr>
          <a:xfrm>
            <a:off x="6116358" y="967959"/>
            <a:ext cx="5546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/>
              <a:t>After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396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96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63" y="855927"/>
            <a:ext cx="4237845" cy="20875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62" y="3086630"/>
            <a:ext cx="4237845" cy="15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470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0584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1. Supports only 24-bit BMP images, excluding common formats like JPEG and PNG.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013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/>
              <a:t>Hamming(7,4) can only correct single-bit errors; multiple errors in one block cause incorrect decoding.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5968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" y="264191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41913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40155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/>
              <a:t>Hamming overhead increases embedded bit count by 75%, reducing the effective capacity of the cover image.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42126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37441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787" y="3421263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/>
              <a:t>Message size is strictly limited by image dimensions, restricting the amount of data that can be hidden.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2328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EF0"/>
          </a:solidFill>
          <a:ln w="12700">
            <a:solidFill>
              <a:srgbClr val="D6EE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5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470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73152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64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0584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1.Replace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 with a graphical interface using a C GUI library or a web front-end.</a:t>
            </a:r>
            <a:endParaRPr lang="en-US" sz="1400" dirty="0"/>
          </a:p>
          <a:p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01368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013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2.Support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popular image formats like JPEG and PNG.</a:t>
            </a:r>
            <a:endParaRPr lang="en-US" sz="1400" dirty="0"/>
          </a:p>
          <a:p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5968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" y="264191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41913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40155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3.Embed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across 2 or 3 LSB per pixel instead of 1, increasing overall message capacity.</a:t>
            </a:r>
            <a:endParaRPr lang="en-US" sz="1400" dirty="0"/>
          </a:p>
          <a:p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421263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0"/>
            </a:solidFill>
            <a:prstDash val="solid"/>
          </a:ln>
          <a:effectLst>
            <a:outerShdw blurRad="1270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37441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787" y="3421263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smtClean="0">
                <a:solidFill>
                  <a:srgbClr val="1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</a:t>
            </a:r>
            <a:r>
              <a:rPr lang="en-US" sz="1400" dirty="0"/>
              <a:t> Use Discrete Wavelet Transform to make hidden data robust against compression, resizing, and noise.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0848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822960"/>
            <a:ext cx="3474720" cy="3474720"/>
          </a:xfrm>
          <a:prstGeom prst="ellipse">
            <a:avLst/>
          </a:prstGeom>
          <a:solidFill>
            <a:srgbClr val="0A5C60">
              <a:alpha val="55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291840"/>
            <a:ext cx="2926080" cy="2926080"/>
          </a:xfrm>
          <a:prstGeom prst="ellipse">
            <a:avLst/>
          </a:prstGeom>
          <a:solidFill>
            <a:srgbClr val="0A5C60">
              <a:alpha val="55000"/>
            </a:srgbClr>
          </a:solidFill>
          <a:ln w="12700">
            <a:solidFill>
              <a:srgbClr val="0A5C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383280" y="2633472"/>
            <a:ext cx="237744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 smtClean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bsse1632@iit.du.ac.bd</a:t>
            </a:r>
            <a:endParaRPr lang="en-US" sz="1200" dirty="0"/>
          </a:p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 err="1" smtClean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i="1" dirty="0">
                <a:solidFill>
                  <a:srgbClr val="A8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https://github.com/asshifasultana/SPL-1.git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531</Words>
  <Application>Microsoft Office PowerPoint</Application>
  <PresentationFormat>On-screen Show (16:9)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 Calendar System</dc:title>
  <dc:subject>PptxGenJS Presentation</dc:subject>
  <dc:creator>PptxGenJS</dc:creator>
  <cp:lastModifiedBy>Asshifa Sultana</cp:lastModifiedBy>
  <cp:revision>16</cp:revision>
  <dcterms:created xsi:type="dcterms:W3CDTF">2026-04-20T18:41:43Z</dcterms:created>
  <dcterms:modified xsi:type="dcterms:W3CDTF">2026-04-22T11:36:40Z</dcterms:modified>
</cp:coreProperties>
</file>