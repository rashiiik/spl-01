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4A983A-936A-4FE4-A137-A7253146ECF0}" v="83" dt="2026-02-22T05:50:48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54013-3BA0-4DE3-A52D-3CD746B5A8BE}" type="datetimeFigureOut"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B8A9C-D030-418D-9615-F5F17DC526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4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619500"/>
            <a:ext cx="9144000" cy="1524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3619500"/>
            <a:ext cx="9144000" cy="1524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0500" y="190500"/>
            <a:ext cx="8763000" cy="47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5263" y="2609850"/>
            <a:ext cx="515737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3"/>
              </a:lnSpc>
              <a:buNone/>
            </a:pPr>
            <a:r>
              <a:rPr lang="en-US" sz="1577" kern="0" spc="-32" dirty="0">
                <a:solidFill>
                  <a:srgbClr val="5D5949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structural investigation of gender attrition in software engineering.</a:t>
            </a:r>
            <a:endParaRPr lang="en-US" sz="1577" dirty="0"/>
          </a:p>
        </p:txBody>
      </p:sp>
      <p:sp>
        <p:nvSpPr>
          <p:cNvPr id="6" name="Text 1"/>
          <p:cNvSpPr/>
          <p:nvPr/>
        </p:nvSpPr>
        <p:spPr>
          <a:xfrm>
            <a:off x="195263" y="385763"/>
            <a:ext cx="727233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4275" kern="0" spc="-214" dirty="0">
                <a:solidFill>
                  <a:srgbClr val="090909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Leaky Pipeline: </a:t>
            </a:r>
            <a:endParaRPr lang="en-US" sz="4275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4275" kern="0" spc="-214" dirty="0">
                <a:solidFill>
                  <a:srgbClr val="090909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do Women Disappear in    Tech?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0500" y="190500"/>
            <a:ext cx="8763000" cy="47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0038" y="404813"/>
            <a:ext cx="4691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kern="0" spc="-14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We Chose this Topic?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390525" y="1238250"/>
            <a:ext cx="40862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1710" b="1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</a:t>
            </a:r>
            <a:r>
              <a:rPr lang="en-US" sz="1710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Hard Boiled</a:t>
            </a:r>
            <a:endParaRPr lang="en-US" sz="1710" dirty="0"/>
          </a:p>
          <a:p>
            <a:pPr>
              <a:lnSpc>
                <a:spcPts val="1710"/>
              </a:lnSpc>
              <a:buSzPct val="100000"/>
            </a:pPr>
            <a:endParaRPr lang="en-US" sz="1700" kern="0" spc="-85" dirty="0">
              <a:solidFill>
                <a:srgbClr val="000000">
                  <a:alpha val="99000"/>
                </a:srgbClr>
              </a:solidFill>
              <a:latin typeface="IBM Plex Sans" pitchFamily="34" charset="-122"/>
              <a:ea typeface="IBM Plex Sans" pitchFamily="34" charset="-122"/>
              <a:cs typeface="IBM Plex Sans" pitchFamily="34" charset="-120"/>
            </a:endParaRPr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1710" b="1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Members</a:t>
            </a:r>
            <a:r>
              <a:rPr lang="en-US" sz="1710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</a:t>
            </a:r>
            <a:endParaRPr lang="en-US" sz="1710" dirty="0"/>
          </a:p>
          <a:p>
            <a:pPr>
              <a:lnSpc>
                <a:spcPts val="1710"/>
              </a:lnSpc>
              <a:buSzPct val="100000"/>
            </a:pPr>
            <a:endParaRPr lang="en-US" sz="1700" kern="0" spc="-85" dirty="0">
              <a:solidFill>
                <a:srgbClr val="000000">
                  <a:alpha val="99000"/>
                </a:srgbClr>
              </a:solidFill>
              <a:latin typeface="IBM Plex Sans" pitchFamily="34" charset="-122"/>
              <a:ea typeface="IBM Plex Sans" pitchFamily="34" charset="-122"/>
              <a:cs typeface="IBM Plex Sans" pitchFamily="34" charset="-120"/>
            </a:endParaRPr>
          </a:p>
          <a:p>
            <a:pPr marL="685800" lvl="1" indent="-342900" algn="l">
              <a:lnSpc>
                <a:spcPts val="1710"/>
              </a:lnSpc>
              <a:buSzPct val="100000"/>
              <a:buChar char="•"/>
            </a:pPr>
            <a:r>
              <a:rPr lang="en-US" sz="1710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Rashik Raihan (BSSE 1619)</a:t>
            </a:r>
            <a:endParaRPr lang="en-US" sz="1710" dirty="0"/>
          </a:p>
          <a:p>
            <a:pPr marL="342900" lvl="1">
              <a:lnSpc>
                <a:spcPts val="1710"/>
              </a:lnSpc>
              <a:buSzPct val="100000"/>
            </a:pPr>
            <a:endParaRPr lang="en-US" sz="1700" kern="0" spc="-85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685800" lvl="1" indent="-342900" algn="l">
              <a:lnSpc>
                <a:spcPts val="1710"/>
              </a:lnSpc>
              <a:buSzPct val="100000"/>
              <a:buChar char="•"/>
            </a:pPr>
            <a:r>
              <a:rPr lang="en-US" sz="1710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Nafis Ahmed (BSSE 1621)</a:t>
            </a:r>
            <a:endParaRPr lang="en-US" sz="1710" dirty="0"/>
          </a:p>
          <a:p>
            <a:pPr marL="342900" lvl="1">
              <a:lnSpc>
                <a:spcPts val="1710"/>
              </a:lnSpc>
              <a:buSzPct val="100000"/>
            </a:pPr>
            <a:endParaRPr lang="en-US" sz="1700" kern="0" spc="-85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685800" lvl="1" indent="-342900" algn="l">
              <a:lnSpc>
                <a:spcPts val="1710"/>
              </a:lnSpc>
              <a:buSzPct val="100000"/>
              <a:buChar char="•"/>
            </a:pPr>
            <a:r>
              <a:rPr lang="en-US" sz="1710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Naim Islam (BSSE 1635)</a:t>
            </a:r>
            <a:endParaRPr lang="en-US" sz="1710" dirty="0"/>
          </a:p>
          <a:p>
            <a:pPr marL="342900" lvl="1">
              <a:lnSpc>
                <a:spcPts val="1710"/>
              </a:lnSpc>
              <a:buSzPct val="100000"/>
            </a:pPr>
            <a:endParaRPr lang="en-US" sz="1700" kern="0" spc="-85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685800" lvl="1" indent="-342900" algn="l">
              <a:lnSpc>
                <a:spcPts val="1710"/>
              </a:lnSpc>
              <a:buSzPct val="100000"/>
              <a:buChar char="•"/>
            </a:pPr>
            <a:r>
              <a:rPr lang="en-US" sz="1710" kern="0" spc="-85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Oasi Mahmud (BSSE 1652)</a:t>
            </a:r>
            <a:endParaRPr lang="en-US" sz="1710" dirty="0"/>
          </a:p>
        </p:txBody>
      </p:sp>
      <p:sp>
        <p:nvSpPr>
          <p:cNvPr id="6" name="Text 2"/>
          <p:cNvSpPr/>
          <p:nvPr/>
        </p:nvSpPr>
        <p:spPr>
          <a:xfrm>
            <a:off x="4976813" y="1228725"/>
            <a:ext cx="3290888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710" b="1" kern="0" spc="-3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Motivation</a:t>
            </a:r>
            <a:r>
              <a:rPr lang="en-US" sz="1710" kern="0" spc="-3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</a:t>
            </a:r>
            <a:endParaRPr lang="en-US" sz="1710" dirty="0"/>
          </a:p>
          <a:p>
            <a:pPr>
              <a:lnSpc>
                <a:spcPts val="1710"/>
              </a:lnSpc>
            </a:pPr>
            <a:endParaRPr lang="en-US" sz="1700" kern="0" spc="-34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425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 </a:t>
            </a:r>
            <a:r>
              <a:rPr lang="en-US" sz="1710" kern="0" spc="-3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Despite women graduating in STEM at comparable rates to men, far fewer enter and remain in software engineering.</a:t>
            </a:r>
            <a:endParaRPr lang="en-US" sz="1710" dirty="0"/>
          </a:p>
          <a:p>
            <a:pPr>
              <a:lnSpc>
                <a:spcPts val="1425"/>
              </a:lnSpc>
            </a:pPr>
            <a:endParaRPr lang="en-US" sz="1700" kern="0" spc="-34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710"/>
              </a:lnSpc>
              <a:buNone/>
            </a:pPr>
            <a:r>
              <a:rPr lang="en-US" sz="1710" kern="0" spc="-3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begged the question: Is this a choice issue or a deeply rooted structural problem?</a:t>
            </a:r>
            <a:endParaRPr lang="en-US" sz="1710" dirty="0"/>
          </a:p>
          <a:p>
            <a:pPr>
              <a:lnSpc>
                <a:spcPts val="1710"/>
              </a:lnSpc>
            </a:pPr>
            <a:endParaRPr lang="en-US" sz="1700" kern="0" spc="-34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710"/>
              </a:lnSpc>
              <a:buNone/>
            </a:pPr>
            <a:r>
              <a:rPr lang="en-US" sz="1710" kern="0" spc="-3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Through our cumulative research regarding the leakage in this pipeline, we map where talent is lost and why.   </a:t>
            </a:r>
            <a:endParaRPr lang="en-US" sz="1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500" y="190500"/>
            <a:ext cx="8763000" cy="4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3337" y="4819650"/>
            <a:ext cx="13001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998"/>
              </a:lnSpc>
              <a:buNone/>
            </a:pPr>
            <a:r>
              <a:rPr lang="en-US" sz="713" kern="0" spc="-14" dirty="0">
                <a:solidFill>
                  <a:srgbClr val="5D5949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713" dirty="0"/>
          </a:p>
        </p:txBody>
      </p:sp>
      <p:sp>
        <p:nvSpPr>
          <p:cNvPr id="4" name="Text 1"/>
          <p:cNvSpPr/>
          <p:nvPr/>
        </p:nvSpPr>
        <p:spPr>
          <a:xfrm>
            <a:off x="190500" y="571500"/>
            <a:ext cx="42052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kern="0" spc="-142" dirty="0">
                <a:solidFill>
                  <a:srgbClr val="090909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Researched</a:t>
            </a:r>
            <a:endParaRPr lang="en-US" sz="2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47908"/>
              </p:ext>
            </p:extLst>
          </p:nvPr>
        </p:nvGraphicFramePr>
        <p:xfrm>
          <a:off x="928688" y="1400175"/>
          <a:ext cx="7289976" cy="3417491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9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25"/>
                        </a:lnSpc>
                        <a:buNone/>
                      </a:pPr>
                      <a:r>
                        <a:rPr lang="en-US" sz="1425" b="1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25"/>
                        </a:lnSpc>
                        <a:buNone/>
                      </a:pPr>
                      <a:r>
                        <a:rPr lang="en-US" sz="1425" b="1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25"/>
                        </a:lnSpc>
                        <a:buNone/>
                      </a:pPr>
                      <a:r>
                        <a:rPr lang="en-US" sz="1400" b="1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/>
                        </a:rPr>
                        <a:t>Source</a:t>
                      </a:r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12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Workforce Reports – Analyzed global tech employment stats, gender ratios, and attrition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🎓 University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5447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University Data – Examined STEM enrollment, graduation, and participation trends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📊 Workforce Reports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822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Surveys &amp; Studies – Reviewed studies on hiring bias, workplace culture, pay gaps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25" kern="0" spc="-28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🔍 Surveys &amp; Studies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0500" y="190500"/>
            <a:ext cx="8763000" cy="47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6725" y="423863"/>
            <a:ext cx="59102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kern="0" spc="-142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Leaky Pipeline Explained</a:t>
            </a:r>
            <a:endParaRPr lang="en-US" sz="28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3875" y="1390650"/>
            <a:ext cx="4143375" cy="304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33713" y="4076700"/>
            <a:ext cx="457200" cy="457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81125" y="2085975"/>
            <a:ext cx="457200" cy="4572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709738" y="3371850"/>
            <a:ext cx="457200" cy="4572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433763" y="1476375"/>
            <a:ext cx="457200" cy="45720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376613" y="2686050"/>
            <a:ext cx="457200" cy="45720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 rot="-22008">
            <a:off x="4648200" y="1933575"/>
            <a:ext cx="4307670" cy="201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76"/>
              </a:lnSpc>
              <a:buNone/>
            </a:pPr>
            <a:r>
              <a:rPr lang="en-US" sz="1876" kern="0" spc="-38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‘leaky pipeline’ stands a metaphor for the gradual loss of women in STEM and software engineering careers.</a:t>
            </a:r>
            <a:endParaRPr lang="en-US" sz="1876" dirty="0"/>
          </a:p>
          <a:p>
            <a:pPr>
              <a:lnSpc>
                <a:spcPts val="1876"/>
              </a:lnSpc>
            </a:pPr>
            <a:endParaRPr lang="en-US" sz="1850" kern="0" spc="-38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876"/>
              </a:lnSpc>
              <a:buNone/>
            </a:pPr>
            <a:r>
              <a:rPr lang="en-US" sz="1876" kern="0" spc="-38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  At each stage, from school to senior leadership, women exit at higher rates than men, creating structural gaps in representation and leadership.</a:t>
            </a:r>
            <a:endParaRPr lang="en-US" sz="187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0" y="923925"/>
            <a:ext cx="2547938" cy="46720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800" y="304800"/>
            <a:ext cx="8534400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800" y="428625"/>
            <a:ext cx="805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2280" b="1" kern="0" spc="-46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1: Early Education &amp; Social Conditioning</a:t>
            </a:r>
            <a:endParaRPr lang="en-US" sz="2280" dirty="0"/>
          </a:p>
        </p:txBody>
      </p:sp>
      <p:sp>
        <p:nvSpPr>
          <p:cNvPr id="5" name="Text 2"/>
          <p:cNvSpPr/>
          <p:nvPr/>
        </p:nvSpPr>
        <p:spPr>
          <a:xfrm>
            <a:off x="6972300" y="428625"/>
            <a:ext cx="18669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998"/>
              </a:lnSpc>
              <a:buNone/>
            </a:pPr>
            <a:r>
              <a:rPr lang="en-US" sz="713" kern="0" spc="-1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713" dirty="0"/>
          </a:p>
        </p:txBody>
      </p:sp>
      <p:sp>
        <p:nvSpPr>
          <p:cNvPr id="6" name="Text 3"/>
          <p:cNvSpPr/>
          <p:nvPr/>
        </p:nvSpPr>
        <p:spPr>
          <a:xfrm>
            <a:off x="3595688" y="1457325"/>
            <a:ext cx="4613702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1737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000000">
                    <a:alpha val="99000"/>
                  </a:srgbClr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Cultural Stereotypes: Girls often receive subtle messaging that STEM is “for boys”</a:t>
            </a:r>
            <a:endParaRPr lang="en-US" sz="1600">
              <a:latin typeface="IBM Plex Sans"/>
              <a:ea typeface="Calibri"/>
              <a:cs typeface="Calibri"/>
            </a:endParaRPr>
          </a:p>
          <a:p>
            <a:pPr>
              <a:lnSpc>
                <a:spcPts val="1737"/>
              </a:lnSpc>
              <a:buSzPct val="100000"/>
            </a:pPr>
            <a:endParaRPr lang="en-US" sz="1600" kern="0" spc="-25" dirty="0">
              <a:solidFill>
                <a:srgbClr val="000000">
                  <a:alpha val="99000"/>
                </a:srgbClr>
              </a:solidFill>
              <a:latin typeface="IBM Plex Sans" pitchFamily="34" charset="-122"/>
              <a:ea typeface="IBM Plex Sans" pitchFamily="34" charset="-122"/>
              <a:cs typeface="IBM Plex Sans" pitchFamily="34" charset="-120"/>
            </a:endParaRPr>
          </a:p>
          <a:p>
            <a:pPr marL="342900" indent="-342900" algn="l">
              <a:lnSpc>
                <a:spcPts val="1737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000000">
                    <a:alpha val="99000"/>
                  </a:srgbClr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Teacher &amp; Peer Influence: Early bias in encouragement, participation, and recognition</a:t>
            </a:r>
            <a:endParaRPr lang="en-US" sz="1600">
              <a:latin typeface="IBM Plex Sans"/>
              <a:ea typeface="Calibri"/>
              <a:cs typeface="Calibri"/>
            </a:endParaRPr>
          </a:p>
          <a:p>
            <a:pPr>
              <a:lnSpc>
                <a:spcPts val="1737"/>
              </a:lnSpc>
              <a:buSzPct val="100000"/>
            </a:pPr>
            <a:endParaRPr lang="en-US" sz="1600" kern="0" spc="-25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342900" indent="-342900" algn="l">
              <a:lnSpc>
                <a:spcPts val="1737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000000">
                    <a:alpha val="99000"/>
                  </a:srgbClr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Interest Gap Formation: By middle school, fewer girls pursue STEM extracurricular or electives</a:t>
            </a:r>
            <a:endParaRPr lang="en-US" sz="1600">
              <a:latin typeface="IBM Plex Sans"/>
              <a:ea typeface="Calibri"/>
              <a:cs typeface="Calibri"/>
            </a:endParaRPr>
          </a:p>
          <a:p>
            <a:pPr>
              <a:lnSpc>
                <a:spcPts val="1737"/>
              </a:lnSpc>
              <a:buSzPct val="100000"/>
            </a:pPr>
            <a:endParaRPr lang="en-US" sz="1600" kern="0" spc="-25" dirty="0">
              <a:solidFill>
                <a:srgbClr val="000000">
                  <a:alpha val="99000"/>
                </a:srgbClr>
              </a:solidFill>
              <a:latin typeface="IBM Plex Sans"/>
              <a:ea typeface="IBM Plex Sans" pitchFamily="34" charset="-122"/>
              <a:cs typeface="IBM Plex Sans" pitchFamily="34" charset="-120"/>
            </a:endParaRPr>
          </a:p>
          <a:p>
            <a:pPr marL="342900" indent="-342900" algn="l">
              <a:lnSpc>
                <a:spcPts val="1737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000000">
                    <a:alpha val="99000"/>
                  </a:srgbClr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Early Decision Impact: These early leaks reduce the number of girls entering STEM degrees, starting the long-term attrition process</a:t>
            </a:r>
            <a:endParaRPr lang="en-US" sz="1600" dirty="0">
              <a:latin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2D6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8996" b="84707"/>
          <a:stretch/>
        </p:blipFill>
        <p:spPr>
          <a:xfrm>
            <a:off x="-451977" y="4100147"/>
            <a:ext cx="9144000" cy="104335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800" y="304800"/>
            <a:ext cx="8534400" cy="0"/>
          </a:xfrm>
          <a:prstGeom prst="line">
            <a:avLst/>
          </a:prstGeom>
          <a:noFill/>
          <a:ln w="4524">
            <a:solidFill>
              <a:srgbClr val="1E33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72300" y="428625"/>
            <a:ext cx="1866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05"/>
              </a:lnSpc>
              <a:buNone/>
            </a:pPr>
            <a:r>
              <a:rPr lang="en-US" sz="641" kern="0" spc="32" dirty="0">
                <a:solidFill>
                  <a:srgbClr val="1E334C">
                    <a:alpha val="99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</a:t>
            </a:r>
            <a:endParaRPr lang="en-US" sz="64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800" y="1343025"/>
            <a:ext cx="3933825" cy="2905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4800" y="428625"/>
            <a:ext cx="7048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08"/>
              </a:lnSpc>
              <a:buNone/>
            </a:pPr>
            <a:r>
              <a:rPr lang="en-US" sz="2280" b="1" kern="0" spc="-91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2: Higher Ed &amp; Prejudice</a:t>
            </a:r>
            <a:endParaRPr lang="en-US" sz="2280" dirty="0"/>
          </a:p>
        </p:txBody>
      </p:sp>
      <p:sp>
        <p:nvSpPr>
          <p:cNvPr id="7" name="Text 3"/>
          <p:cNvSpPr/>
          <p:nvPr/>
        </p:nvSpPr>
        <p:spPr>
          <a:xfrm>
            <a:off x="4414838" y="1319213"/>
            <a:ext cx="4561323" cy="292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1472"/>
              </a:lnSpc>
              <a:buSzPct val="100000"/>
              <a:buChar char="•"/>
            </a:pPr>
            <a:r>
              <a:rPr lang="en-US" sz="1338" kern="0" spc="67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Implicit Bias: Professors and peers may favor male students in participation and recognition</a:t>
            </a:r>
            <a:endParaRPr lang="en-US" sz="1338" dirty="0"/>
          </a:p>
          <a:p>
            <a:pPr>
              <a:lnSpc>
                <a:spcPts val="1472"/>
              </a:lnSpc>
              <a:buSzPct val="100000"/>
            </a:pPr>
            <a:endParaRPr lang="en-US" sz="1300" kern="0" spc="67" dirty="0">
              <a:solidFill>
                <a:srgbClr val="000000">
                  <a:alpha val="99000"/>
                </a:srgbClr>
              </a:solidFill>
              <a:latin typeface="DM Sans" pitchFamily="34" charset="-122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1472"/>
              </a:lnSpc>
              <a:buSzPct val="100000"/>
              <a:buChar char="•"/>
            </a:pPr>
            <a:r>
              <a:rPr lang="en-US" sz="1338" kern="0" spc="67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Stereotype Threat: Women perform worse when reminded of negative stereotypes about STEM competence</a:t>
            </a:r>
            <a:endParaRPr lang="en-US" sz="1338" dirty="0"/>
          </a:p>
          <a:p>
            <a:pPr>
              <a:lnSpc>
                <a:spcPts val="1472"/>
              </a:lnSpc>
              <a:buSzPct val="100000"/>
            </a:pPr>
            <a:endParaRPr lang="en-US" sz="1300" kern="0" spc="67" dirty="0">
              <a:solidFill>
                <a:srgbClr val="000000">
                  <a:alpha val="99000"/>
                </a:srgbClr>
              </a:solidFill>
              <a:latin typeface="DM Sans" pitchFamily="34" charset="-122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1472"/>
              </a:lnSpc>
              <a:buSzPct val="100000"/>
              <a:buChar char="•"/>
            </a:pPr>
            <a:r>
              <a:rPr lang="en-US" sz="1338" kern="0" spc="67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Networking &amp; Mentorship Gaps: Fewer role models and mentors for women in advanced courses</a:t>
            </a:r>
            <a:endParaRPr lang="en-US" sz="1338" dirty="0"/>
          </a:p>
          <a:p>
            <a:pPr>
              <a:lnSpc>
                <a:spcPts val="1472"/>
              </a:lnSpc>
              <a:buSzPct val="100000"/>
            </a:pPr>
            <a:endParaRPr lang="en-US" sz="1300" kern="0" spc="67" dirty="0">
              <a:solidFill>
                <a:srgbClr val="000000">
                  <a:alpha val="99000"/>
                </a:srgbClr>
              </a:solidFill>
              <a:latin typeface="DM Sans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1472"/>
              </a:lnSpc>
              <a:buSzPct val="100000"/>
              <a:buChar char="•"/>
            </a:pPr>
            <a:r>
              <a:rPr lang="en-US" sz="1338" kern="0" spc="67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 Attrition: Many women switch majors or avoid STEM-intensive tracks due to bias or lack of support</a:t>
            </a:r>
            <a:endParaRPr lang="en-US" sz="13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7D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17134"/>
          <a:stretch/>
        </p:blipFill>
        <p:spPr>
          <a:xfrm>
            <a:off x="0" y="-657039"/>
            <a:ext cx="9141702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800" y="304800"/>
            <a:ext cx="8534400" cy="0"/>
          </a:xfrm>
          <a:prstGeom prst="line">
            <a:avLst/>
          </a:prstGeom>
          <a:noFill/>
          <a:ln w="4524">
            <a:solidFill>
              <a:srgbClr val="1E334C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r="3421"/>
          <a:stretch/>
        </p:blipFill>
        <p:spPr>
          <a:xfrm>
            <a:off x="4572000" y="747713"/>
            <a:ext cx="4572000" cy="392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72300" y="428625"/>
            <a:ext cx="1866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05"/>
              </a:lnSpc>
              <a:buNone/>
            </a:pPr>
            <a:r>
              <a:rPr lang="en-US" sz="641" kern="0" spc="32" dirty="0">
                <a:solidFill>
                  <a:srgbClr val="1E334C">
                    <a:alpha val="99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</a:t>
            </a:r>
            <a:endParaRPr lang="en-US" sz="641" dirty="0"/>
          </a:p>
        </p:txBody>
      </p:sp>
      <p:sp>
        <p:nvSpPr>
          <p:cNvPr id="6" name="Text 2"/>
          <p:cNvSpPr/>
          <p:nvPr/>
        </p:nvSpPr>
        <p:spPr>
          <a:xfrm>
            <a:off x="347663" y="528638"/>
            <a:ext cx="34909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08"/>
              </a:lnSpc>
              <a:buNone/>
            </a:pPr>
            <a:r>
              <a:rPr lang="en-US" sz="2280" b="1" kern="0" spc="11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3: First Jobs &amp; Early Barriers</a:t>
            </a:r>
            <a:endParaRPr lang="en-US" sz="2280" dirty="0"/>
          </a:p>
        </p:txBody>
      </p:sp>
      <p:sp>
        <p:nvSpPr>
          <p:cNvPr id="7" name="Text 3"/>
          <p:cNvSpPr/>
          <p:nvPr/>
        </p:nvSpPr>
        <p:spPr>
          <a:xfrm>
            <a:off x="303181" y="1454598"/>
            <a:ext cx="4195354" cy="2939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1320"/>
              </a:lnSpc>
              <a:buSzPct val="100000"/>
              <a:buChar char="•"/>
            </a:pPr>
            <a:r>
              <a:rPr lang="en-US" sz="1600" kern="0" spc="60" dirty="0">
                <a:solidFill>
                  <a:srgbClr val="000000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Bias in Assignments: Women often receive less challenging or less “prestige” projects</a:t>
            </a:r>
            <a:endParaRPr lang="en-US" sz="1600">
              <a:latin typeface="DM Sans"/>
              <a:ea typeface="Calibri"/>
              <a:cs typeface="Calibri"/>
            </a:endParaRPr>
          </a:p>
          <a:p>
            <a:pPr>
              <a:lnSpc>
                <a:spcPts val="1320"/>
              </a:lnSpc>
              <a:buSzPct val="100000"/>
            </a:pPr>
            <a:endParaRPr lang="en-US" sz="1600" kern="0" spc="60" dirty="0">
              <a:solidFill>
                <a:srgbClr val="000000">
                  <a:alpha val="99000"/>
                </a:srgbClr>
              </a:solidFill>
              <a:latin typeface="DM Sans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1320"/>
              </a:lnSpc>
              <a:buSzPct val="100000"/>
              <a:buChar char="•"/>
            </a:pPr>
            <a:r>
              <a:rPr lang="en-US" sz="1600" kern="0" spc="60" dirty="0">
                <a:solidFill>
                  <a:srgbClr val="000000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Early Performance vs. Potential Gap: Men are promoted on perceived potential; women on proven performance</a:t>
            </a:r>
            <a:endParaRPr lang="en-US" sz="1600">
              <a:latin typeface="DM Sans"/>
              <a:ea typeface="Calibri"/>
              <a:cs typeface="Calibri"/>
            </a:endParaRPr>
          </a:p>
          <a:p>
            <a:pPr>
              <a:lnSpc>
                <a:spcPts val="1320"/>
              </a:lnSpc>
              <a:buSzPct val="100000"/>
            </a:pPr>
            <a:endParaRPr lang="en-US" sz="1600" kern="0" spc="60" dirty="0">
              <a:solidFill>
                <a:srgbClr val="000000">
                  <a:alpha val="99000"/>
                </a:srgbClr>
              </a:solidFill>
              <a:latin typeface="DM Sans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1320"/>
              </a:lnSpc>
              <a:buSzPct val="100000"/>
              <a:buChar char="•"/>
            </a:pPr>
            <a:r>
              <a:rPr lang="en-US" sz="1600" kern="0" spc="60" dirty="0">
                <a:solidFill>
                  <a:srgbClr val="000000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Social Exclusion: Networking, after-work socialization, and mentorship often favor men</a:t>
            </a:r>
            <a:endParaRPr lang="en-US" sz="1600">
              <a:latin typeface="DM Sans"/>
              <a:ea typeface="Calibri"/>
              <a:cs typeface="Calibri"/>
            </a:endParaRPr>
          </a:p>
          <a:p>
            <a:pPr>
              <a:lnSpc>
                <a:spcPts val="1320"/>
              </a:lnSpc>
              <a:buSzPct val="100000"/>
            </a:pPr>
            <a:endParaRPr lang="en-US" sz="1600" kern="0" spc="60" dirty="0">
              <a:solidFill>
                <a:srgbClr val="000000">
                  <a:alpha val="99000"/>
                </a:srgbClr>
              </a:solidFill>
              <a:latin typeface="DM Sans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1320"/>
              </a:lnSpc>
              <a:buSzPct val="100000"/>
              <a:buChar char="•"/>
            </a:pPr>
            <a:r>
              <a:rPr lang="en-US" sz="1600" kern="0" spc="60" dirty="0">
                <a:solidFill>
                  <a:srgbClr val="000000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First Promotions Matter: Missing early advancement opportunities creates long-term attrition risk</a:t>
            </a:r>
            <a:endParaRPr lang="en-US" sz="1600" dirty="0">
              <a:latin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10623" b="84224"/>
          <a:stretch/>
        </p:blipFill>
        <p:spPr>
          <a:xfrm>
            <a:off x="-847488" y="4047608"/>
            <a:ext cx="9144000" cy="10958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3283675"/>
            <a:ext cx="2695575" cy="50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kern="0" spc="50" dirty="0">
                <a:solidFill>
                  <a:srgbClr val="1E334C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Early promotions disproportionately favor men, creating long-term gaps</a:t>
            </a:r>
            <a:endParaRPr lang="en-US" sz="1200">
              <a:latin typeface="DM Sans"/>
              <a:ea typeface="Calibri"/>
              <a:cs typeface="Calibri"/>
            </a:endParaRPr>
          </a:p>
        </p:txBody>
      </p:sp>
      <p:sp>
        <p:nvSpPr>
          <p:cNvPr id="4" name="Text 1"/>
          <p:cNvSpPr/>
          <p:nvPr/>
        </p:nvSpPr>
        <p:spPr>
          <a:xfrm>
            <a:off x="3224213" y="3367735"/>
            <a:ext cx="26955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kern="0" spc="50" dirty="0">
                <a:solidFill>
                  <a:srgbClr val="1E334C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Non-promotable tasks slow career advancement for women</a:t>
            </a:r>
            <a:endParaRPr lang="en-US" sz="1200">
              <a:latin typeface="DM Sans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38076" y="3366903"/>
            <a:ext cx="26955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kern="0" spc="50" dirty="0">
                <a:solidFill>
                  <a:srgbClr val="1E334C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Caregiving responsibilities intersect with career growth, leading to exits</a:t>
            </a:r>
            <a:endParaRPr lang="en-US" sz="1200">
              <a:latin typeface="DM Sans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304800" y="2962275"/>
            <a:ext cx="26955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400" b="1" kern="0" spc="-40" dirty="0">
                <a:solidFill>
                  <a:srgbClr val="1E334C">
                    <a:alpha val="99000"/>
                  </a:srgbClr>
                </a:solidFill>
                <a:latin typeface="Unbounded"/>
                <a:ea typeface="Unbounded" pitchFamily="34" charset="-122"/>
                <a:cs typeface="Unbounded" pitchFamily="34" charset="-120"/>
              </a:rPr>
              <a:t>BROKEN RUNG</a:t>
            </a:r>
            <a:endParaRPr lang="en-US" sz="1400" b="1" dirty="0">
              <a:latin typeface="Unbounded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24213" y="2962275"/>
            <a:ext cx="2695575" cy="314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400" b="1" kern="0" spc="-40" dirty="0">
                <a:solidFill>
                  <a:srgbClr val="1E334C">
                    <a:alpha val="99000"/>
                  </a:srgbClr>
                </a:solidFill>
                <a:latin typeface="Unbounded"/>
                <a:ea typeface="Unbounded" pitchFamily="34" charset="-122"/>
                <a:cs typeface="Unbounded" pitchFamily="34" charset="-120"/>
              </a:rPr>
              <a:t>GLUE WORK &amp; INVISIBLE LABOR</a:t>
            </a:r>
            <a:endParaRPr lang="en-US" sz="1400" b="1">
              <a:latin typeface="Unbounded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43625" y="2962275"/>
            <a:ext cx="26955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400" b="1" kern="0" spc="-40" dirty="0">
                <a:solidFill>
                  <a:srgbClr val="1E334C">
                    <a:alpha val="99000"/>
                  </a:srgbClr>
                </a:solidFill>
                <a:latin typeface="Unbounded"/>
                <a:ea typeface="Unbounded"/>
                <a:cs typeface="Unbounded" pitchFamily="34" charset="-120"/>
              </a:rPr>
              <a:t>MOTHERHOOD PENALTY</a:t>
            </a:r>
            <a:endParaRPr lang="en-US" sz="1400" b="1">
              <a:latin typeface="Unbounded"/>
              <a:ea typeface="Unbounded"/>
              <a:cs typeface="Calibri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800" y="1138238"/>
            <a:ext cx="2695575" cy="167163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24213" y="1138238"/>
            <a:ext cx="2695575" cy="167163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43625" y="1138238"/>
            <a:ext cx="2695575" cy="167163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04800" y="304800"/>
            <a:ext cx="8534400" cy="0"/>
          </a:xfrm>
          <a:prstGeom prst="line">
            <a:avLst/>
          </a:prstGeom>
          <a:noFill/>
          <a:ln w="4524">
            <a:solidFill>
              <a:srgbClr val="1E334C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6972300" y="428625"/>
            <a:ext cx="1866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05"/>
              </a:lnSpc>
              <a:buNone/>
            </a:pPr>
            <a:r>
              <a:rPr lang="en-US" sz="641" kern="0" spc="32" dirty="0">
                <a:solidFill>
                  <a:srgbClr val="1E334C">
                    <a:alpha val="99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8</a:t>
            </a:r>
            <a:endParaRPr lang="en-US" sz="641" dirty="0"/>
          </a:p>
        </p:txBody>
      </p:sp>
      <p:sp>
        <p:nvSpPr>
          <p:cNvPr id="14" name="Text 8"/>
          <p:cNvSpPr/>
          <p:nvPr/>
        </p:nvSpPr>
        <p:spPr>
          <a:xfrm>
            <a:off x="300038" y="428625"/>
            <a:ext cx="68913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08"/>
              </a:lnSpc>
              <a:buNone/>
            </a:pPr>
            <a:r>
              <a:rPr lang="en-US" sz="2280" b="1" kern="0" spc="114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4: Mid-Career Exit – The Big Leak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10623" b="84224"/>
          <a:stretch/>
        </p:blipFill>
        <p:spPr>
          <a:xfrm>
            <a:off x="-847488" y="4047608"/>
            <a:ext cx="9144000" cy="10958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800" y="304800"/>
            <a:ext cx="8534400" cy="0"/>
          </a:xfrm>
          <a:prstGeom prst="line">
            <a:avLst/>
          </a:prstGeom>
          <a:noFill/>
          <a:ln w="4524">
            <a:solidFill>
              <a:srgbClr val="1E334C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8638" y="1414463"/>
            <a:ext cx="2695575" cy="1671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8638" y="3257550"/>
            <a:ext cx="26955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400" b="1" kern="0" spc="-40" dirty="0">
                <a:solidFill>
                  <a:srgbClr val="1E334C">
                    <a:alpha val="99000"/>
                  </a:srgbClr>
                </a:solidFill>
                <a:latin typeface="Unbounded"/>
                <a:ea typeface="Unbounded" pitchFamily="34" charset="-122"/>
                <a:cs typeface="Unbounded" pitchFamily="34" charset="-120"/>
              </a:rPr>
              <a:t>GLASS CEILING</a:t>
            </a:r>
            <a:endParaRPr lang="en-US" sz="1400" b="1">
              <a:latin typeface="Unbounded"/>
              <a:ea typeface="Calibri"/>
              <a:cs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528638" y="3557588"/>
            <a:ext cx="26955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kern="0" spc="50" dirty="0">
                <a:solidFill>
                  <a:srgbClr val="1E334C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Invisible barriers block women from executive roles</a:t>
            </a:r>
            <a:endParaRPr lang="en-US" sz="1200">
              <a:latin typeface="DM Sans"/>
              <a:ea typeface="Calibri"/>
              <a:cs typeface="Calibri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67200" y="1414463"/>
            <a:ext cx="2695575" cy="1671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67200" y="3257550"/>
            <a:ext cx="26955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400" b="1" kern="0" spc="-40" dirty="0">
                <a:solidFill>
                  <a:srgbClr val="1E334C">
                    <a:alpha val="99000"/>
                  </a:srgbClr>
                </a:solidFill>
                <a:latin typeface="Unbounded"/>
                <a:ea typeface="Unbounded"/>
                <a:cs typeface="Unbounded" pitchFamily="34" charset="-120"/>
              </a:rPr>
              <a:t>SPONSORSHIP &amp; NETWORKING</a:t>
            </a:r>
            <a:endParaRPr lang="en-US" sz="1400" b="1">
              <a:latin typeface="Unbounded"/>
              <a:ea typeface="Unbounded"/>
              <a:cs typeface="Calibri"/>
            </a:endParaRPr>
          </a:p>
        </p:txBody>
      </p:sp>
      <p:sp>
        <p:nvSpPr>
          <p:cNvPr id="9" name="Text 4"/>
          <p:cNvSpPr/>
          <p:nvPr/>
        </p:nvSpPr>
        <p:spPr>
          <a:xfrm>
            <a:off x="4276725" y="3557588"/>
            <a:ext cx="26955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200" kern="0" spc="50" dirty="0">
                <a:solidFill>
                  <a:srgbClr val="1E334C">
                    <a:alpha val="99000"/>
                  </a:srgbClr>
                </a:solidFill>
                <a:latin typeface="DM Sans"/>
                <a:ea typeface="DM Sans" pitchFamily="34" charset="-122"/>
                <a:cs typeface="DM Sans" pitchFamily="34" charset="-120"/>
              </a:rPr>
              <a:t>Few senior leaders advocate for women, limiting opportunities</a:t>
            </a:r>
            <a:endParaRPr lang="en-US" sz="1200">
              <a:latin typeface="DM Sans"/>
              <a:ea typeface="Calibri"/>
              <a:cs typeface="Calibri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972300" y="428625"/>
            <a:ext cx="1866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05"/>
              </a:lnSpc>
              <a:buNone/>
            </a:pPr>
            <a:r>
              <a:rPr lang="en-US" sz="641" kern="0" spc="32" dirty="0">
                <a:solidFill>
                  <a:srgbClr val="1E334C">
                    <a:alpha val="99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</a:t>
            </a:r>
            <a:endParaRPr lang="en-US" sz="641" dirty="0"/>
          </a:p>
        </p:txBody>
      </p:sp>
      <p:sp>
        <p:nvSpPr>
          <p:cNvPr id="11" name="Text 6"/>
          <p:cNvSpPr/>
          <p:nvPr/>
        </p:nvSpPr>
        <p:spPr>
          <a:xfrm>
            <a:off x="314325" y="428625"/>
            <a:ext cx="5095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08"/>
              </a:lnSpc>
              <a:buNone/>
            </a:pPr>
            <a:r>
              <a:rPr lang="en-US" sz="2280" b="1" kern="0" spc="114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Stage 5: Senior Leadership – The Glass Ceiling</a:t>
            </a:r>
            <a:endParaRPr lang="en-US" sz="2280" dirty="0"/>
          </a:p>
        </p:txBody>
      </p:sp>
      <p:sp>
        <p:nvSpPr>
          <p:cNvPr id="12" name="Text 7"/>
          <p:cNvSpPr/>
          <p:nvPr/>
        </p:nvSpPr>
        <p:spPr>
          <a:xfrm>
            <a:off x="7296150" y="1657350"/>
            <a:ext cx="1728788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1149" b="1" kern="0" spc="57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Cumulative Impact</a:t>
            </a:r>
            <a:r>
              <a:rPr lang="en-US" sz="1149" kern="0" spc="57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  <a:endParaRPr lang="en-US" sz="1149" dirty="0"/>
          </a:p>
          <a:p>
            <a:pPr marL="0" indent="0" algn="l">
              <a:lnSpc>
                <a:spcPts val="1264"/>
              </a:lnSpc>
              <a:buNone/>
            </a:pPr>
            <a:r>
              <a:rPr lang="en-US" sz="1149" kern="0" spc="57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Attrition and systemic bias drastically reduce female representation in top leadership</a:t>
            </a:r>
            <a:endParaRPr lang="en-US" sz="1149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r="8946"/>
          <a:stretch/>
        </p:blipFill>
        <p:spPr>
          <a:xfrm>
            <a:off x="6962775" y="1033462"/>
            <a:ext cx="2181225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304800"/>
            <a:ext cx="8534400" cy="0"/>
          </a:xfrm>
          <a:prstGeom prst="line">
            <a:avLst/>
          </a:prstGeom>
          <a:noFill/>
          <a:ln w="4524">
            <a:solidFill>
              <a:srgbClr val="1E33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" y="3043238"/>
            <a:ext cx="8539163" cy="0"/>
          </a:xfrm>
          <a:prstGeom prst="line">
            <a:avLst/>
          </a:prstGeom>
          <a:noFill/>
          <a:ln w="9049">
            <a:solidFill>
              <a:srgbClr val="1E334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82492" y="1227302"/>
            <a:ext cx="9525" cy="18159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36256" y="2797011"/>
            <a:ext cx="492454" cy="492454"/>
          </a:xfrm>
          <a:prstGeom prst="ellipse">
            <a:avLst/>
          </a:prstGeom>
          <a:solidFill>
            <a:srgbClr val="C2D6B4"/>
          </a:solidFill>
          <a:ln/>
        </p:spPr>
      </p:sp>
      <p:sp>
        <p:nvSpPr>
          <p:cNvPr id="6" name="Shape 3"/>
          <p:cNvSpPr/>
          <p:nvPr/>
        </p:nvSpPr>
        <p:spPr>
          <a:xfrm>
            <a:off x="304800" y="2797011"/>
            <a:ext cx="492454" cy="492454"/>
          </a:xfrm>
          <a:prstGeom prst="ellipse">
            <a:avLst/>
          </a:prstGeom>
          <a:solidFill>
            <a:srgbClr val="EEEEE7"/>
          </a:solidFill>
          <a:ln/>
        </p:spPr>
      </p:sp>
      <p:sp>
        <p:nvSpPr>
          <p:cNvPr id="7" name="Shape 4"/>
          <p:cNvSpPr/>
          <p:nvPr/>
        </p:nvSpPr>
        <p:spPr>
          <a:xfrm>
            <a:off x="6434751" y="2797011"/>
            <a:ext cx="492454" cy="492454"/>
          </a:xfrm>
          <a:prstGeom prst="ellipse">
            <a:avLst/>
          </a:prstGeom>
          <a:solidFill>
            <a:srgbClr val="EEEEE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3417" y="1254593"/>
            <a:ext cx="9525" cy="18159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7181" y="2797011"/>
            <a:ext cx="492454" cy="492454"/>
          </a:xfrm>
          <a:prstGeom prst="ellipse">
            <a:avLst/>
          </a:prstGeom>
          <a:solidFill>
            <a:srgbClr val="1E334C"/>
          </a:solidFill>
          <a:ln/>
        </p:spPr>
      </p:sp>
      <p:sp>
        <p:nvSpPr>
          <p:cNvPr id="10" name="Shape 6"/>
          <p:cNvSpPr/>
          <p:nvPr/>
        </p:nvSpPr>
        <p:spPr>
          <a:xfrm>
            <a:off x="666750" y="1252538"/>
            <a:ext cx="2517642" cy="1319213"/>
          </a:xfrm>
          <a:prstGeom prst="rect">
            <a:avLst/>
          </a:prstGeom>
          <a:noFill/>
          <a:ln/>
        </p:spPr>
      </p:sp>
      <p:sp>
        <p:nvSpPr>
          <p:cNvPr id="11" name="Text 7"/>
          <p:cNvSpPr/>
          <p:nvPr/>
        </p:nvSpPr>
        <p:spPr>
          <a:xfrm>
            <a:off x="666750" y="1252538"/>
            <a:ext cx="25176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46"/>
              </a:lnSpc>
              <a:buNone/>
            </a:pPr>
            <a:r>
              <a:rPr lang="en-US" sz="1496" kern="0" spc="-60" dirty="0">
                <a:solidFill>
                  <a:srgbClr val="1E334C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1496" dirty="0"/>
          </a:p>
        </p:txBody>
      </p:sp>
      <p:sp>
        <p:nvSpPr>
          <p:cNvPr id="12" name="Text 8"/>
          <p:cNvSpPr/>
          <p:nvPr/>
        </p:nvSpPr>
        <p:spPr>
          <a:xfrm>
            <a:off x="666750" y="1662113"/>
            <a:ext cx="2517642" cy="909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1140" b="1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Education (School Level)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Encourage girls in STEM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 stereotypes early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visible female role models</a:t>
            </a:r>
            <a:endParaRPr lang="en-US" sz="11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6764" y="3024188"/>
            <a:ext cx="9525" cy="181593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320528" y="2797011"/>
            <a:ext cx="492454" cy="492454"/>
          </a:xfrm>
          <a:prstGeom prst="ellipse">
            <a:avLst/>
          </a:prstGeom>
          <a:solidFill>
            <a:srgbClr val="B7D8FF"/>
          </a:solidFill>
          <a:ln/>
        </p:spPr>
      </p:sp>
      <p:sp>
        <p:nvSpPr>
          <p:cNvPr id="15" name="Shape 10"/>
          <p:cNvSpPr/>
          <p:nvPr/>
        </p:nvSpPr>
        <p:spPr>
          <a:xfrm>
            <a:off x="4695825" y="947737"/>
            <a:ext cx="2462213" cy="1719263"/>
          </a:xfrm>
          <a:prstGeom prst="rect">
            <a:avLst/>
          </a:prstGeom>
          <a:noFill/>
          <a:ln/>
        </p:spPr>
      </p:sp>
      <p:sp>
        <p:nvSpPr>
          <p:cNvPr id="16" name="Text 11"/>
          <p:cNvSpPr/>
          <p:nvPr/>
        </p:nvSpPr>
        <p:spPr>
          <a:xfrm>
            <a:off x="4695825" y="947737"/>
            <a:ext cx="24622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46"/>
              </a:lnSpc>
              <a:buNone/>
            </a:pPr>
            <a:r>
              <a:rPr lang="en-US" sz="1496" kern="0" spc="-60" dirty="0">
                <a:solidFill>
                  <a:srgbClr val="1E334C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1496" dirty="0"/>
          </a:p>
        </p:txBody>
      </p:sp>
      <p:sp>
        <p:nvSpPr>
          <p:cNvPr id="17" name="Shape 12"/>
          <p:cNvSpPr/>
          <p:nvPr/>
        </p:nvSpPr>
        <p:spPr>
          <a:xfrm>
            <a:off x="4695825" y="1166813"/>
            <a:ext cx="2462213" cy="1500188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4695825" y="1166813"/>
            <a:ext cx="2462213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1140" b="1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Career (Entry-Level Jobs)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Transparent promotion criteria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Equal access to mentorship &amp; sponsorship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Address pay gaps and biased evaluations</a:t>
            </a:r>
            <a:endParaRPr lang="en-US" sz="1140" dirty="0"/>
          </a:p>
        </p:txBody>
      </p:sp>
      <p:sp>
        <p:nvSpPr>
          <p:cNvPr id="19" name="Shape 14"/>
          <p:cNvSpPr/>
          <p:nvPr/>
        </p:nvSpPr>
        <p:spPr>
          <a:xfrm>
            <a:off x="2814638" y="3290888"/>
            <a:ext cx="2042331" cy="1609725"/>
          </a:xfrm>
          <a:prstGeom prst="rect">
            <a:avLst/>
          </a:prstGeom>
          <a:noFill/>
          <a:ln/>
        </p:spPr>
      </p:sp>
      <p:sp>
        <p:nvSpPr>
          <p:cNvPr id="20" name="Text 15"/>
          <p:cNvSpPr/>
          <p:nvPr/>
        </p:nvSpPr>
        <p:spPr>
          <a:xfrm>
            <a:off x="2814638" y="3290888"/>
            <a:ext cx="20423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46"/>
              </a:lnSpc>
              <a:buNone/>
            </a:pPr>
            <a:r>
              <a:rPr lang="en-US" sz="1496" kern="0" spc="-60" dirty="0">
                <a:solidFill>
                  <a:srgbClr val="1E334C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1496" dirty="0"/>
          </a:p>
        </p:txBody>
      </p:sp>
      <p:sp>
        <p:nvSpPr>
          <p:cNvPr id="21" name="Shape 16"/>
          <p:cNvSpPr/>
          <p:nvPr/>
        </p:nvSpPr>
        <p:spPr>
          <a:xfrm>
            <a:off x="2814638" y="3700463"/>
            <a:ext cx="2042331" cy="1200150"/>
          </a:xfrm>
          <a:prstGeom prst="rect">
            <a:avLst/>
          </a:prstGeom>
          <a:noFill/>
          <a:ln/>
        </p:spPr>
      </p:sp>
      <p:sp>
        <p:nvSpPr>
          <p:cNvPr id="22" name="Text 17"/>
          <p:cNvSpPr/>
          <p:nvPr/>
        </p:nvSpPr>
        <p:spPr>
          <a:xfrm>
            <a:off x="2814638" y="3700463"/>
            <a:ext cx="2042331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1140" b="1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University Level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Inclusive classroom culture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Anti-bias training for faculty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Mentorship programs for female students</a:t>
            </a:r>
            <a:endParaRPr lang="en-US" sz="114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80969" y="3024188"/>
            <a:ext cx="9525" cy="181593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434733" y="2797011"/>
            <a:ext cx="492454" cy="49245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6796088" y="3290888"/>
            <a:ext cx="2047875" cy="1776413"/>
          </a:xfrm>
          <a:prstGeom prst="rect">
            <a:avLst/>
          </a:prstGeom>
          <a:noFill/>
          <a:ln/>
        </p:spPr>
      </p:sp>
      <p:sp>
        <p:nvSpPr>
          <p:cNvPr id="26" name="Text 20"/>
          <p:cNvSpPr/>
          <p:nvPr/>
        </p:nvSpPr>
        <p:spPr>
          <a:xfrm>
            <a:off x="6796088" y="3290888"/>
            <a:ext cx="20478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46"/>
              </a:lnSpc>
              <a:buNone/>
            </a:pPr>
            <a:r>
              <a:rPr lang="en-US" sz="1496" kern="0" spc="-60" dirty="0">
                <a:solidFill>
                  <a:srgbClr val="1E334C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1496" dirty="0"/>
          </a:p>
        </p:txBody>
      </p:sp>
      <p:sp>
        <p:nvSpPr>
          <p:cNvPr id="27" name="Text 21"/>
          <p:cNvSpPr/>
          <p:nvPr/>
        </p:nvSpPr>
        <p:spPr>
          <a:xfrm>
            <a:off x="6796088" y="3509963"/>
            <a:ext cx="2042331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1140" b="1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Mid–Senior Career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 the Broken Rung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Recognize and reward “glue work”</a:t>
            </a:r>
            <a:endParaRPr lang="en-US" sz="1140" dirty="0"/>
          </a:p>
          <a:p>
            <a:pPr marL="342900" indent="-342900" algn="l">
              <a:lnSpc>
                <a:spcPts val="1254"/>
              </a:lnSpc>
              <a:buSzPct val="100000"/>
              <a:buChar char="•"/>
            </a:pPr>
            <a:r>
              <a:rPr lang="en-US" sz="1140" kern="0" spc="57" dirty="0">
                <a:solidFill>
                  <a:srgbClr val="1E334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Equitable parental leave &amp; flexible policies</a:t>
            </a:r>
            <a:endParaRPr lang="en-US" sz="114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rcRect r="46778" b="-2147"/>
          <a:stretch/>
        </p:blipFill>
        <p:spPr>
          <a:xfrm>
            <a:off x="8530311" y="2882131"/>
            <a:ext cx="166929" cy="32038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72300" y="428625"/>
            <a:ext cx="1866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05"/>
              </a:lnSpc>
              <a:buNone/>
            </a:pPr>
            <a:r>
              <a:rPr lang="en-US" sz="641" kern="0" spc="32" dirty="0">
                <a:solidFill>
                  <a:srgbClr val="1E334C">
                    <a:alpha val="99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641" dirty="0"/>
          </a:p>
        </p:txBody>
      </p:sp>
      <p:sp>
        <p:nvSpPr>
          <p:cNvPr id="30" name="Text 23"/>
          <p:cNvSpPr/>
          <p:nvPr/>
        </p:nvSpPr>
        <p:spPr>
          <a:xfrm>
            <a:off x="352425" y="419100"/>
            <a:ext cx="63817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08"/>
              </a:lnSpc>
              <a:buNone/>
            </a:pPr>
            <a:r>
              <a:rPr lang="en-US" sz="2280" b="1" kern="0" spc="114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Fixing the Pipeline: What Can Be Done?</a:t>
            </a:r>
            <a:endParaRPr lang="en-US" sz="2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7913" y="0"/>
            <a:ext cx="2986088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0500" y="190500"/>
            <a:ext cx="5776913" cy="47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57913" y="0"/>
            <a:ext cx="2986088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0500" y="381000"/>
            <a:ext cx="577691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kern="0" spc="-142" dirty="0">
                <a:solidFill>
                  <a:srgbClr val="090909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Conclusion: Talent Is Not the Problem</a:t>
            </a:r>
            <a:endParaRPr lang="en-US" sz="2850" dirty="0"/>
          </a:p>
        </p:txBody>
      </p:sp>
      <p:sp>
        <p:nvSpPr>
          <p:cNvPr id="6" name="Text 1"/>
          <p:cNvSpPr/>
          <p:nvPr/>
        </p:nvSpPr>
        <p:spPr>
          <a:xfrm>
            <a:off x="190500" y="1814513"/>
            <a:ext cx="5110014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04"/>
              </a:lnSpc>
              <a:buSzPct val="100000"/>
              <a:buChar char="•"/>
            </a:pPr>
            <a:r>
              <a:rPr lang="en-US" sz="2004" kern="0" spc="-4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gender gap in software engineering is structural, not biological.</a:t>
            </a:r>
            <a:endParaRPr lang="en-US" sz="2004" dirty="0"/>
          </a:p>
          <a:p>
            <a:pPr>
              <a:lnSpc>
                <a:spcPts val="2004"/>
              </a:lnSpc>
              <a:buSzPct val="100000"/>
            </a:pPr>
            <a:endParaRPr lang="en-US" sz="2000" kern="0" spc="-40" dirty="0">
              <a:solidFill>
                <a:srgbClr val="000000">
                  <a:alpha val="99000"/>
                </a:srgbClr>
              </a:solidFill>
              <a:latin typeface="IBM Plex Sans" pitchFamily="34" charset="-122"/>
              <a:ea typeface="IBM Plex Sans" pitchFamily="34" charset="-122"/>
              <a:cs typeface="IBM Plex Sans" pitchFamily="34" charset="-120"/>
            </a:endParaRPr>
          </a:p>
          <a:p>
            <a:pPr marL="342900" indent="-342900" algn="l">
              <a:lnSpc>
                <a:spcPts val="2004"/>
              </a:lnSpc>
              <a:buSzPct val="100000"/>
              <a:buChar char="•"/>
            </a:pPr>
            <a:r>
              <a:rPr lang="en-US" sz="2004" kern="0" spc="-4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Barriers accumulate across education, career entry, and leadership.</a:t>
            </a:r>
            <a:endParaRPr lang="en-US" sz="2004" dirty="0"/>
          </a:p>
          <a:p>
            <a:pPr>
              <a:lnSpc>
                <a:spcPts val="2004"/>
              </a:lnSpc>
              <a:buSzPct val="100000"/>
            </a:pPr>
            <a:endParaRPr lang="en-US" sz="2000" kern="0" spc="-40" dirty="0">
              <a:solidFill>
                <a:srgbClr val="000000">
                  <a:alpha val="99000"/>
                </a:srgbClr>
              </a:solidFill>
              <a:latin typeface="IBM Plex Sans" pitchFamily="34" charset="-122"/>
              <a:ea typeface="IBM Plex Sans" pitchFamily="34" charset="-122"/>
              <a:cs typeface="IBM Plex Sans" pitchFamily="34" charset="-120"/>
            </a:endParaRPr>
          </a:p>
          <a:p>
            <a:pPr marL="342900" indent="-342900" algn="l">
              <a:lnSpc>
                <a:spcPts val="2004"/>
              </a:lnSpc>
              <a:buSzPct val="100000"/>
              <a:buChar char="•"/>
            </a:pPr>
            <a:r>
              <a:rPr lang="en-US" sz="2004" kern="0" spc="-40" dirty="0">
                <a:solidFill>
                  <a:srgbClr val="000000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Fixing systems, not “fixing women” is the real solution.</a:t>
            </a:r>
            <a:endParaRPr lang="en-US" sz="200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500" y="190500"/>
            <a:ext cx="8763000" cy="47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r="11"/>
          <a:stretch/>
        </p:blipFill>
        <p:spPr>
          <a:xfrm>
            <a:off x="-967" y="0"/>
            <a:ext cx="9143033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76588" y="1350169"/>
            <a:ext cx="5086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kern="0" spc="-142" dirty="0">
                <a:solidFill>
                  <a:srgbClr val="090909">
                    <a:alpha val="99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“Maybe, just maybe, if we stopped only looking in the mirror and began looking beyond it, we could create opportunities for them to soar.”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46</cp:revision>
  <dcterms:created xsi:type="dcterms:W3CDTF">2026-02-22T05:36:59Z</dcterms:created>
  <dcterms:modified xsi:type="dcterms:W3CDTF">2026-02-22T05:50:50Z</dcterms:modified>
</cp:coreProperties>
</file>