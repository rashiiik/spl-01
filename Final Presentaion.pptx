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7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72" r:id="rId8"/>
    <p:sldId id="273" r:id="rId9"/>
    <p:sldId id="274" r:id="rId10"/>
    <p:sldId id="275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973D2C-B445-4D4F-8285-7813DFC89A13}" v="602" dt="2026-04-21T11:22:05.510"/>
    <p1510:client id="{488E703F-2AAE-4CA2-9D7F-913A7868A261}" v="7" dt="2026-04-22T08:07:32.383"/>
    <p1510:client id="{C80B5902-B20A-473D-9BB6-CCCB6DBB60AA}" v="1702" dt="2026-04-21T18:55:11.639"/>
    <p1510:client id="{F0DC17BF-4D7D-4315-BDDB-5A0CB81CCDB1}" v="535" dt="2026-04-22T07:58:59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F81C-1FCB-4DBA-8044-F1A0FCFD45A6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0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773D-8987-489A-A650-3D6F7D5C7C38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50C1-1D78-4D80-810D-E9E86F6E88AB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42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CBD8-1588-4B6B-B74D-87480DDE94C0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05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440-721C-4D75-BD4F-4CFB3D51CDCA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71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01A64-483B-4532-94FB-D8F90CB6DEE0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59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FB39-20FB-4E2E-B861-45B709B9C3C5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12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AC19-8BD6-476C-9770-8884373BCF00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03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8C53-8AD1-4F09-9486-FB3406B99CFA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92B3-2D87-4CDF-B84B-C46E5F5D31F7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82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9E57-47B1-47B0-B526-3153E4B1E729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42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BA543EDD-D0D2-447F-B24F-3717AF4B109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787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0" r:id="rId6"/>
    <p:sldLayoutId id="2147484086" r:id="rId7"/>
    <p:sldLayoutId id="2147484087" r:id="rId8"/>
    <p:sldLayoutId id="2147484088" r:id="rId9"/>
    <p:sldLayoutId id="2147484089" r:id="rId10"/>
    <p:sldLayoutId id="214748409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77454" y="3965691"/>
            <a:ext cx="3014546" cy="289230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42B987A8-3C5A-4495-85A2-B7BBC3EAC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77454" y="3965691"/>
            <a:ext cx="3014546" cy="289230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46453" y="857546"/>
            <a:ext cx="6964685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32CDD2-9715-425B-9CCC-CF8CE92BE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46453" y="857546"/>
            <a:ext cx="6964685" cy="5402463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1"/>
            <a:ext cx="3799266" cy="401991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EB013C47-A4B4-4108-87AF-82C5CD7DF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1"/>
            <a:ext cx="3799266" cy="401991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13658" y="727769"/>
            <a:ext cx="6964685" cy="540246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0971" y="136525"/>
            <a:ext cx="1035526" cy="103552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9" name="Graphic 212">
            <a:extLst>
              <a:ext uri="{FF2B5EF4-FFF2-40B4-BE49-F238E27FC236}">
                <a16:creationId xmlns:a16="http://schemas.microsoft.com/office/drawing/2014/main" id="{BC8E4194-D60D-466F-B2E4-E0A0C145F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0971" y="136525"/>
            <a:ext cx="1035526" cy="103552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6765" y="1017432"/>
            <a:ext cx="6418471" cy="317057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ea typeface="Source Sans Pro SemiBold"/>
                <a:cs typeface="Times New Roman"/>
              </a:rPr>
              <a:t>Software </a:t>
            </a:r>
            <a:r>
              <a:rPr lang="en-US">
                <a:latin typeface="Times New Roman"/>
                <a:ea typeface="Source Sans Pro SemiBold"/>
                <a:cs typeface="Times New Roman"/>
              </a:rPr>
              <a:t>Project Lab - 01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86765" y="4280080"/>
            <a:ext cx="6418471" cy="15604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Times New Roman"/>
                <a:ea typeface="Source Sans Pro"/>
                <a:cs typeface="Times New Roman"/>
              </a:rPr>
              <a:t>Name: Rashik raihan</a:t>
            </a:r>
            <a:endParaRPr lang="en-US" cap="none" spc="0">
              <a:latin typeface="Times New Roman"/>
              <a:ea typeface="Source Sans Pro"/>
              <a:cs typeface="Times New Roman"/>
            </a:endParaRPr>
          </a:p>
          <a:p>
            <a:r>
              <a:rPr lang="en-US">
                <a:latin typeface="Times New Roman"/>
                <a:ea typeface="Source Sans Pro"/>
                <a:cs typeface="Times New Roman"/>
              </a:rPr>
              <a:t>Bsse Roll: 1619</a:t>
            </a:r>
            <a:endParaRPr lang="en-US" cap="none" spc="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52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41751" y="5783167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2F74E9-D284-CF6A-0071-1A9160B04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74771" cy="4042196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ea typeface="Source Sans Pro"/>
                <a:cs typeface="Times New Roman"/>
              </a:rPr>
              <a:t>Project Title – </a:t>
            </a:r>
            <a:r>
              <a:rPr lang="en-US" b="1">
                <a:latin typeface="Times New Roman"/>
                <a:ea typeface="Source Sans Pro"/>
                <a:cs typeface="Times New Roman"/>
              </a:rPr>
              <a:t>Pixel</a:t>
            </a:r>
            <a:r>
              <a:rPr lang="en-US" b="1" dirty="0">
                <a:latin typeface="Times New Roman"/>
                <a:ea typeface="Source Sans Pro"/>
                <a:cs typeface="Times New Roman"/>
              </a:rPr>
              <a:t>++</a:t>
            </a: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35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EBF2C-199C-9AAB-D769-283D7B4F0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7078" y="67078"/>
            <a:ext cx="3827703" cy="37171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br>
              <a:rPr lang="en-US" sz="1800" dirty="0">
                <a:solidFill>
                  <a:srgbClr val="FFFFFF"/>
                </a:solidFill>
                <a:latin typeface="Century Schoolbook"/>
              </a:rPr>
            </a:br>
            <a:endParaRPr lang="en-US" sz="1800" b="1">
              <a:solidFill>
                <a:srgbClr val="FFFFFF"/>
              </a:solidFill>
              <a:latin typeface="Century Schoolbook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E20906-5ED3-FCAA-AAE2-98F657E6945E}"/>
              </a:ext>
            </a:extLst>
          </p:cNvPr>
          <p:cNvSpPr/>
          <p:nvPr/>
        </p:nvSpPr>
        <p:spPr>
          <a:xfrm>
            <a:off x="6608589" y="2972693"/>
            <a:ext cx="4870701" cy="25954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BB6BE-5CA1-804C-E555-2A4BBDB7FA0F}"/>
              </a:ext>
            </a:extLst>
          </p:cNvPr>
          <p:cNvSpPr txBox="1"/>
          <p:nvPr/>
        </p:nvSpPr>
        <p:spPr>
          <a:xfrm>
            <a:off x="6951610" y="3292868"/>
            <a:ext cx="427615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Times New Roman"/>
                <a:ea typeface="Source Sans Pro"/>
                <a:cs typeface="Times New Roman"/>
              </a:rPr>
              <a:t>Supervised By</a:t>
            </a:r>
            <a:br>
              <a:rPr lang="en-US" sz="2400" dirty="0">
                <a:latin typeface="Times New Roman"/>
                <a:ea typeface="Source Sans Pro"/>
              </a:rPr>
            </a:br>
            <a:r>
              <a:rPr lang="en-US" sz="2400">
                <a:latin typeface="Times New Roman"/>
                <a:ea typeface="Source Sans Pro"/>
                <a:cs typeface="Times New Roman"/>
              </a:rPr>
              <a:t>Mohd. Zulfiquar Hafiz</a:t>
            </a:r>
          </a:p>
          <a:p>
            <a:r>
              <a:rPr lang="en-US" sz="2400">
                <a:latin typeface="Times New Roman"/>
                <a:ea typeface="Source Sans Pro"/>
                <a:cs typeface="Times New Roman"/>
              </a:rPr>
              <a:t>Professor</a:t>
            </a:r>
            <a:br>
              <a:rPr lang="en-US" sz="2400" dirty="0">
                <a:latin typeface="Times New Roman"/>
                <a:ea typeface="Source Sans Pro"/>
              </a:rPr>
            </a:br>
            <a:r>
              <a:rPr lang="en-US" sz="2400">
                <a:latin typeface="Times New Roman"/>
                <a:ea typeface="Source Sans Pro"/>
                <a:cs typeface="Times New Roman"/>
              </a:rPr>
              <a:t>IIT, University of Dhaka</a:t>
            </a:r>
            <a:endParaRPr lang="en-US" sz="2400" dirty="0">
              <a:latin typeface="Times New Roman"/>
              <a:ea typeface="Source Sans Pr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403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3" name="Rectangle 362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6" name="Oval 365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8CF616-B071-E517-6A03-46D56846E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ea typeface="Source Sans Pro"/>
              </a:rPr>
              <a:t>Project Overview</a:t>
            </a:r>
            <a:endParaRPr lang="en-US" b="1"/>
          </a:p>
        </p:txBody>
      </p: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69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0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A4819-047C-5CBC-9FE0-520643A5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2766" y="667344"/>
            <a:ext cx="5897529" cy="529828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800" b="1">
                <a:latin typeface="Times New Roman"/>
                <a:cs typeface="Times New Roman"/>
              </a:rPr>
              <a:t>Problem</a:t>
            </a:r>
            <a:endParaRPr lang="en-US" sz="1800">
              <a:latin typeface="Times New Roman"/>
              <a:ea typeface="Source Sans Pro"/>
              <a:cs typeface="Times New Roman"/>
            </a:endParaRPr>
          </a:p>
          <a:p>
            <a:pPr>
              <a:buFont typeface="Wingdings"/>
              <a:buChar char="q"/>
            </a:pPr>
            <a:r>
              <a:rPr lang="en-US" sz="1800">
                <a:latin typeface="Times New Roman"/>
                <a:ea typeface="+mn-lt"/>
                <a:cs typeface="Times New Roman"/>
              </a:rPr>
              <a:t>Digital images often suffer from: </a:t>
            </a:r>
          </a:p>
          <a:p>
            <a:pPr marL="971550" lvl="1" indent="-285750">
              <a:buFont typeface="Wingdings"/>
              <a:buChar char="§"/>
            </a:pPr>
            <a:r>
              <a:rPr lang="en-US" sz="1800">
                <a:latin typeface="Times New Roman"/>
                <a:ea typeface="+mn-lt"/>
                <a:cs typeface="Times New Roman"/>
              </a:rPr>
              <a:t>Noise (unwanted distortions) </a:t>
            </a:r>
            <a:endParaRPr lang="en-US" sz="1800">
              <a:latin typeface="Times New Roman"/>
              <a:ea typeface="Source Sans Pro"/>
              <a:cs typeface="Times New Roman"/>
            </a:endParaRPr>
          </a:p>
          <a:p>
            <a:pPr marL="971550" lvl="1" indent="-285750">
              <a:buFont typeface="Wingdings"/>
              <a:buChar char="§"/>
            </a:pPr>
            <a:r>
              <a:rPr lang="en-US" sz="1800">
                <a:latin typeface="Times New Roman"/>
                <a:ea typeface="+mn-lt"/>
                <a:cs typeface="Times New Roman"/>
              </a:rPr>
              <a:t>Blur (loss of detail) </a:t>
            </a:r>
            <a:endParaRPr lang="en-US" sz="1800">
              <a:latin typeface="Times New Roman"/>
              <a:ea typeface="Source Sans Pro"/>
              <a:cs typeface="Times New Roman"/>
            </a:endParaRPr>
          </a:p>
          <a:p>
            <a:pPr marL="971550" lvl="1" indent="-285750">
              <a:buFont typeface="Wingdings"/>
              <a:buChar char="§"/>
            </a:pPr>
            <a:r>
              <a:rPr lang="en-US" sz="1800">
                <a:latin typeface="Times New Roman"/>
                <a:ea typeface="+mn-lt"/>
                <a:cs typeface="Times New Roman"/>
              </a:rPr>
              <a:t>Low resolution (pixelation when scaled) </a:t>
            </a:r>
            <a:endParaRPr lang="en-US" sz="1800">
              <a:latin typeface="Times New Roman"/>
              <a:ea typeface="Source Sans Pro"/>
              <a:cs typeface="Times New Roman"/>
            </a:endParaRPr>
          </a:p>
          <a:p>
            <a:pPr>
              <a:buFont typeface="Wingdings"/>
              <a:buChar char="q"/>
            </a:pPr>
            <a:r>
              <a:rPr lang="en-US" sz="1800">
                <a:latin typeface="Times New Roman"/>
                <a:ea typeface="+mn-lt"/>
                <a:cs typeface="Times New Roman"/>
              </a:rPr>
              <a:t>Basic processing methods may be fast but reduce image quality</a:t>
            </a:r>
            <a:endParaRPr lang="en-US" sz="1800">
              <a:latin typeface="Times New Roman"/>
              <a:ea typeface="Source Sans Pro"/>
              <a:cs typeface="Times New Roman"/>
            </a:endParaRPr>
          </a:p>
          <a:p>
            <a:pPr marL="0" indent="0">
              <a:buNone/>
            </a:pPr>
            <a:endParaRPr lang="en-US" sz="1800" dirty="0">
              <a:ea typeface="Source Sans Pro"/>
            </a:endParaRPr>
          </a:p>
          <a:p>
            <a:pPr>
              <a:buNone/>
            </a:pPr>
            <a:r>
              <a:rPr lang="en-US" sz="1800" b="1">
                <a:latin typeface="Times New Roman"/>
                <a:cs typeface="Times New Roman"/>
              </a:rPr>
              <a:t>Objective</a:t>
            </a:r>
            <a:endParaRPr lang="en-US" sz="1800">
              <a:latin typeface="Times New Roman"/>
              <a:ea typeface="Source Sans Pro"/>
              <a:cs typeface="Times New Roman"/>
            </a:endParaRPr>
          </a:p>
          <a:p>
            <a:pPr>
              <a:buFont typeface="Wingdings"/>
              <a:buChar char="q"/>
            </a:pPr>
            <a:r>
              <a:rPr lang="en-US" sz="1800">
                <a:latin typeface="Times New Roman"/>
                <a:ea typeface="+mn-lt"/>
                <a:cs typeface="Times New Roman"/>
              </a:rPr>
              <a:t>Enhance image quality using advanced algorithms </a:t>
            </a:r>
            <a:endParaRPr lang="en-US" sz="1800">
              <a:latin typeface="Times New Roman"/>
              <a:ea typeface="Source Sans Pro"/>
              <a:cs typeface="Times New Roman"/>
            </a:endParaRPr>
          </a:p>
          <a:p>
            <a:pPr>
              <a:buFont typeface="Wingdings"/>
              <a:buChar char="q"/>
            </a:pPr>
            <a:r>
              <a:rPr lang="en-US" sz="1800">
                <a:latin typeface="Times New Roman"/>
                <a:ea typeface="+mn-lt"/>
                <a:cs typeface="Times New Roman"/>
              </a:rPr>
              <a:t>Compare basic vs advanced techniques </a:t>
            </a:r>
            <a:endParaRPr lang="en-US" sz="1800">
              <a:latin typeface="Times New Roman"/>
              <a:ea typeface="Source Sans Pro"/>
              <a:cs typeface="Times New Roman"/>
            </a:endParaRPr>
          </a:p>
          <a:p>
            <a:pPr>
              <a:buFont typeface="Wingdings"/>
              <a:buChar char="q"/>
            </a:pPr>
            <a:r>
              <a:rPr lang="en-US" sz="1800">
                <a:latin typeface="Times New Roman"/>
                <a:ea typeface="+mn-lt"/>
                <a:cs typeface="Times New Roman"/>
              </a:rPr>
              <a:t>Improve performance using multithreading</a:t>
            </a:r>
            <a:endParaRPr lang="en-US" sz="1800">
              <a:latin typeface="Times New Roman"/>
              <a:ea typeface="Source Sans Pro"/>
              <a:cs typeface="Times New Roman"/>
            </a:endParaRPr>
          </a:p>
          <a:p>
            <a:pPr>
              <a:buFont typeface="Wingdings"/>
              <a:buChar char="q"/>
            </a:pPr>
            <a:r>
              <a:rPr lang="en-US" sz="1800">
                <a:latin typeface="Times New Roman"/>
                <a:ea typeface="+mn-lt"/>
                <a:cs typeface="Times New Roman"/>
              </a:rPr>
              <a:t>Analyze results using CSV-based benchmarking</a:t>
            </a:r>
            <a:endParaRPr lang="en-US" sz="18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 dirty="0">
              <a:latin typeface="Times New Roman"/>
              <a:ea typeface="Source Sans Pro"/>
              <a:cs typeface="Times New Roman"/>
            </a:endParaRPr>
          </a:p>
        </p:txBody>
      </p:sp>
      <p:grpSp>
        <p:nvGrpSpPr>
          <p:cNvPr id="373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81034" y="5750136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4406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9EA0F-6C5A-25AD-D736-00BCCDB14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989"/>
            <a:ext cx="9447838" cy="1340803"/>
          </a:xfrm>
        </p:spPr>
        <p:txBody>
          <a:bodyPr/>
          <a:lstStyle/>
          <a:p>
            <a:r>
              <a:rPr lang="en-US" b="1">
                <a:ea typeface="Source Sans Pro"/>
              </a:rPr>
              <a:t>Project Evolution</a:t>
            </a:r>
            <a:endParaRPr lang="en-US" b="1" dirty="0">
              <a:ea typeface="Source Sans Pro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D1685F8-7876-696B-7B72-1D3F923538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6134693"/>
              </p:ext>
            </p:extLst>
          </p:nvPr>
        </p:nvGraphicFramePr>
        <p:xfrm>
          <a:off x="835980" y="1324252"/>
          <a:ext cx="10515600" cy="457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382999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151485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194067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30816877"/>
                    </a:ext>
                  </a:extLst>
                </a:gridCol>
              </a:tblGrid>
              <a:tr h="457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During Midterm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Final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785379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Upscaling</a:t>
                      </a:r>
                      <a:endParaRPr lang="en-US" sz="2000" b="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Bilinear Interpolation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✔️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✔️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47392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000" b="1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Lanczos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❌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✔️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892819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Denoising</a:t>
                      </a:r>
                      <a:endParaRPr lang="en-US" sz="2000" b="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Median Filter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✔️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✔️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795878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Non-Local Means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❌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✔️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49117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Sharpening</a:t>
                      </a:r>
                      <a:endParaRPr lang="en-US" sz="2000" b="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Laplacian Filter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❌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✔️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968094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Unsharp Masking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✔️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✔️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974068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Edge Detection</a:t>
                      </a:r>
                      <a:endParaRPr lang="en-US" sz="2000" b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Sobel Operator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✔️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✔️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191610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Performance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Multithreading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❌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✔️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821158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Analysis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CSV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❌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Times New Roman"/>
                          <a:ea typeface="Source Sans Pro"/>
                          <a:cs typeface="Times New Roman"/>
                        </a:rPr>
                        <a:t>✔️</a:t>
                      </a:r>
                      <a:endParaRPr lang="en-US" sz="2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843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637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1D72A4A-771D-4FE0-A07E-D0DAF4D6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448" y="447277"/>
            <a:ext cx="3294813" cy="5911481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5BB7246-8AFD-47FC-A1F4-491E0167E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9940" y="438890"/>
            <a:ext cx="3294813" cy="5911481"/>
          </a:xfrm>
          <a:prstGeom prst="rect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0A6DF2E7-0906-4F1E-9B28-48B1A4D8E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308343"/>
            <a:ext cx="3294813" cy="591148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Graphic 212">
            <a:extLst>
              <a:ext uri="{FF2B5EF4-FFF2-40B4-BE49-F238E27FC236}">
                <a16:creationId xmlns:a16="http://schemas.microsoft.com/office/drawing/2014/main" id="{684FEC42-F70A-4505-A5DF-EC67268FE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841" y="49924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1" name="Graphic 212">
            <a:extLst>
              <a:ext uri="{FF2B5EF4-FFF2-40B4-BE49-F238E27FC236}">
                <a16:creationId xmlns:a16="http://schemas.microsoft.com/office/drawing/2014/main" id="{7D10AF26-17A2-4FA8-824A-F78507AF6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841" y="49924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7502F0-ABE7-CA00-1D49-537D0745E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105985" cy="4238118"/>
          </a:xfrm>
        </p:spPr>
        <p:txBody>
          <a:bodyPr>
            <a:normAutofit/>
          </a:bodyPr>
          <a:lstStyle/>
          <a:p>
            <a:r>
              <a:rPr lang="en-US" b="1">
                <a:ea typeface="Source Sans Pro"/>
              </a:rPr>
              <a:t>Algorithm Overview</a:t>
            </a:r>
            <a:endParaRPr lang="en-US" b="1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8E7273-307C-8473-D157-A38B6118F4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0417550"/>
              </p:ext>
            </p:extLst>
          </p:nvPr>
        </p:nvGraphicFramePr>
        <p:xfrm>
          <a:off x="4586796" y="1035728"/>
          <a:ext cx="7126116" cy="4548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607">
                  <a:extLst>
                    <a:ext uri="{9D8B030D-6E8A-4147-A177-3AD203B41FA5}">
                      <a16:colId xmlns:a16="http://schemas.microsoft.com/office/drawing/2014/main" val="148406428"/>
                    </a:ext>
                  </a:extLst>
                </a:gridCol>
                <a:gridCol w="2506415">
                  <a:extLst>
                    <a:ext uri="{9D8B030D-6E8A-4147-A177-3AD203B41FA5}">
                      <a16:colId xmlns:a16="http://schemas.microsoft.com/office/drawing/2014/main" val="269829585"/>
                    </a:ext>
                  </a:extLst>
                </a:gridCol>
                <a:gridCol w="2259094">
                  <a:extLst>
                    <a:ext uri="{9D8B030D-6E8A-4147-A177-3AD203B41FA5}">
                      <a16:colId xmlns:a16="http://schemas.microsoft.com/office/drawing/2014/main" val="2367305470"/>
                    </a:ext>
                  </a:extLst>
                </a:gridCol>
              </a:tblGrid>
              <a:tr h="582826">
                <a:tc>
                  <a:txBody>
                    <a:bodyPr/>
                    <a:lstStyle/>
                    <a:p>
                      <a:pPr algn="ctr"/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Basic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Advanced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544869"/>
                  </a:ext>
                </a:extLst>
              </a:tr>
              <a:tr h="991310">
                <a:tc>
                  <a:txBody>
                    <a:bodyPr/>
                    <a:lstStyle/>
                    <a:p>
                      <a:pPr algn="ctr"/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Upscaling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Bilinear Interpolation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Lanczos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1961"/>
                  </a:ext>
                </a:extLst>
              </a:tr>
              <a:tr h="991310">
                <a:tc>
                  <a:txBody>
                    <a:bodyPr/>
                    <a:lstStyle/>
                    <a:p>
                      <a:pPr algn="ctr"/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Denoising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Median Filter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Non-Local Means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006810"/>
                  </a:ext>
                </a:extLst>
              </a:tr>
              <a:tr h="9913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Sharpening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Unsharp Mask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Laplacian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199538"/>
                  </a:ext>
                </a:extLst>
              </a:tr>
              <a:tr h="9913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Edge Detection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Sobel Operator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(Enhanced quality)</a:t>
                      </a:r>
                    </a:p>
                  </a:txBody>
                  <a:tcPr marL="135129" marR="135129" marT="67564" marB="67564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859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588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2BE42-6887-F87C-6CFB-CBDA759B7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785"/>
            <a:ext cx="10515600" cy="1325563"/>
          </a:xfrm>
        </p:spPr>
        <p:txBody>
          <a:bodyPr/>
          <a:lstStyle/>
          <a:p>
            <a:r>
              <a:rPr lang="en-US" b="1">
                <a:ea typeface="Source Sans Pro"/>
              </a:rPr>
              <a:t>Results (Denoising)</a:t>
            </a:r>
            <a:endParaRPr lang="en-US" b="1"/>
          </a:p>
        </p:txBody>
      </p:sp>
      <p:pic>
        <p:nvPicPr>
          <p:cNvPr id="14" name="Content Placeholder 13" descr="A person wearing a hat&#10;&#10;AI-generated content may be incorrect.">
            <a:extLst>
              <a:ext uri="{FF2B5EF4-FFF2-40B4-BE49-F238E27FC236}">
                <a16:creationId xmlns:a16="http://schemas.microsoft.com/office/drawing/2014/main" id="{5E66368C-56F9-5D63-56D0-3A2535F9B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4629" t="30184" r="41445" b="42129"/>
          <a:stretch>
            <a:fillRect/>
          </a:stretch>
        </p:blipFill>
        <p:spPr>
          <a:xfrm>
            <a:off x="860308" y="1602267"/>
            <a:ext cx="3831623" cy="3827293"/>
          </a:xfrm>
          <a:prstGeom prst="rect">
            <a:avLst/>
          </a:prstGeom>
        </p:spPr>
      </p:pic>
      <p:pic>
        <p:nvPicPr>
          <p:cNvPr id="15" name="Picture 14" descr="A person wearing a hat&#10;&#10;AI-generated content may be incorrect.">
            <a:extLst>
              <a:ext uri="{FF2B5EF4-FFF2-40B4-BE49-F238E27FC236}">
                <a16:creationId xmlns:a16="http://schemas.microsoft.com/office/drawing/2014/main" id="{44FD2650-F63D-129A-4DCD-AD3F0CA5F3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804" t="31430" r="41260" b="43091"/>
          <a:stretch>
            <a:fillRect/>
          </a:stretch>
        </p:blipFill>
        <p:spPr>
          <a:xfrm>
            <a:off x="7522522" y="1599908"/>
            <a:ext cx="3830120" cy="38300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8B200BA-5B48-5AD2-6AF7-456EA7DF6063}"/>
              </a:ext>
            </a:extLst>
          </p:cNvPr>
          <p:cNvSpPr txBox="1"/>
          <p:nvPr/>
        </p:nvSpPr>
        <p:spPr>
          <a:xfrm>
            <a:off x="861540" y="5615458"/>
            <a:ext cx="3810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Source Sans Pro"/>
              </a:rPr>
              <a:t>Median Filter</a:t>
            </a:r>
            <a:br>
              <a:rPr lang="en-US" b="1" dirty="0">
                <a:ea typeface="Source Sans Pro"/>
              </a:rPr>
            </a:br>
            <a:r>
              <a:rPr lang="en-US" b="1">
                <a:ea typeface="Source Sans Pro"/>
              </a:rPr>
              <a:t>(Preserves less detail)</a:t>
            </a:r>
            <a:endParaRPr lang="en-US" b="1" dirty="0">
              <a:ea typeface="Source Sans Pr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6D80F1-5515-D39F-4EB2-92CC85824A7C}"/>
              </a:ext>
            </a:extLst>
          </p:cNvPr>
          <p:cNvSpPr txBox="1"/>
          <p:nvPr/>
        </p:nvSpPr>
        <p:spPr>
          <a:xfrm>
            <a:off x="7520459" y="5618890"/>
            <a:ext cx="38374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Source Sans Pro"/>
              </a:rPr>
              <a:t> </a:t>
            </a:r>
            <a:r>
              <a:rPr lang="en-US" b="1">
                <a:ea typeface="Source Sans Pro"/>
              </a:rPr>
              <a:t>Non-Local Means</a:t>
            </a:r>
          </a:p>
          <a:p>
            <a:pPr algn="ctr"/>
            <a:r>
              <a:rPr lang="en-US" b="1">
                <a:ea typeface="Source Sans Pro"/>
              </a:rPr>
              <a:t>(Preserves more detail)</a:t>
            </a:r>
          </a:p>
        </p:txBody>
      </p:sp>
      <p:pic>
        <p:nvPicPr>
          <p:cNvPr id="20" name="Picture 19" descr="A blurry image of a person&amp;#39;s face&#10;&#10;AI-generated content may be incorrect.">
            <a:extLst>
              <a:ext uri="{FF2B5EF4-FFF2-40B4-BE49-F238E27FC236}">
                <a16:creationId xmlns:a16="http://schemas.microsoft.com/office/drawing/2014/main" id="{35485183-586C-8675-67C4-5AC3218BF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1457754"/>
            <a:ext cx="2190750" cy="990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1" name="Arrow: Up 20">
            <a:extLst>
              <a:ext uri="{FF2B5EF4-FFF2-40B4-BE49-F238E27FC236}">
                <a16:creationId xmlns:a16="http://schemas.microsoft.com/office/drawing/2014/main" id="{259BB050-6C71-41F9-F0B4-76C7968648DD}"/>
              </a:ext>
            </a:extLst>
          </p:cNvPr>
          <p:cNvSpPr/>
          <p:nvPr/>
        </p:nvSpPr>
        <p:spPr>
          <a:xfrm rot="2040000">
            <a:off x="4296790" y="2542996"/>
            <a:ext cx="281459" cy="1856944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AED27267-DCBB-0C75-B9C9-EC3C15697045}"/>
              </a:ext>
            </a:extLst>
          </p:cNvPr>
          <p:cNvSpPr/>
          <p:nvPr/>
        </p:nvSpPr>
        <p:spPr>
          <a:xfrm rot="-4980000">
            <a:off x="8281083" y="3158925"/>
            <a:ext cx="329510" cy="2323752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close up of a person&amp;#39;s eye&#10;&#10;AI-generated content may be incorrect.">
            <a:extLst>
              <a:ext uri="{FF2B5EF4-FFF2-40B4-BE49-F238E27FC236}">
                <a16:creationId xmlns:a16="http://schemas.microsoft.com/office/drawing/2014/main" id="{231294FD-BE26-9511-EDD5-3EE51647D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6291" y="3519486"/>
            <a:ext cx="2199418" cy="9997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885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5095A-DA1E-8E30-5348-AF43CC33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018"/>
            <a:ext cx="10515600" cy="1325563"/>
          </a:xfrm>
        </p:spPr>
        <p:txBody>
          <a:bodyPr/>
          <a:lstStyle/>
          <a:p>
            <a:r>
              <a:rPr lang="en-US" b="1">
                <a:ea typeface="Source Sans Pro"/>
              </a:rPr>
              <a:t>Results (Edge Detection)</a:t>
            </a:r>
            <a:endParaRPr lang="en-US" b="1"/>
          </a:p>
        </p:txBody>
      </p:sp>
      <p:pic>
        <p:nvPicPr>
          <p:cNvPr id="4" name="Content Placeholder 3" descr="A drawing of a person with a feather hat&#10;&#10;AI-generated content may be incorrect.">
            <a:extLst>
              <a:ext uri="{FF2B5EF4-FFF2-40B4-BE49-F238E27FC236}">
                <a16:creationId xmlns:a16="http://schemas.microsoft.com/office/drawing/2014/main" id="{14AD1260-1059-0DD3-647B-C66300C45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611" y="1712572"/>
            <a:ext cx="4053385" cy="411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1D8C75-DCF1-EBFA-D669-4D9C1A324573}"/>
              </a:ext>
            </a:extLst>
          </p:cNvPr>
          <p:cNvSpPr txBox="1"/>
          <p:nvPr/>
        </p:nvSpPr>
        <p:spPr>
          <a:xfrm>
            <a:off x="840090" y="5966173"/>
            <a:ext cx="40501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Source Sans Pro"/>
              </a:rPr>
              <a:t>Sobel Operator </a:t>
            </a:r>
            <a:br>
              <a:rPr lang="en-US" b="1" dirty="0">
                <a:ea typeface="Source Sans Pro"/>
              </a:rPr>
            </a:br>
            <a:r>
              <a:rPr lang="en-US" b="1">
                <a:ea typeface="Source Sans Pro"/>
              </a:rPr>
              <a:t>(Static Threshold)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F2568-6E76-BCED-BD4C-A5CEF16E0581}"/>
              </a:ext>
            </a:extLst>
          </p:cNvPr>
          <p:cNvSpPr txBox="1"/>
          <p:nvPr/>
        </p:nvSpPr>
        <p:spPr>
          <a:xfrm>
            <a:off x="6890180" y="5965561"/>
            <a:ext cx="41408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Source Sans Pro"/>
              </a:rPr>
              <a:t>Sobel Operator</a:t>
            </a:r>
            <a:br>
              <a:rPr lang="en-US" b="1" dirty="0">
                <a:ea typeface="Source Sans Pro"/>
              </a:rPr>
            </a:br>
            <a:r>
              <a:rPr lang="en-US" b="1">
                <a:ea typeface="Source Sans Pro"/>
              </a:rPr>
              <a:t>(Dynamic Threshold)</a:t>
            </a:r>
          </a:p>
        </p:txBody>
      </p:sp>
      <p:pic>
        <p:nvPicPr>
          <p:cNvPr id="3" name="Picture 2" descr="A black and white drawing of a person&#10;&#10;AI-generated content may be incorrect.">
            <a:extLst>
              <a:ext uri="{FF2B5EF4-FFF2-40B4-BE49-F238E27FC236}">
                <a16:creationId xmlns:a16="http://schemas.microsoft.com/office/drawing/2014/main" id="{53CE9931-33D0-1E70-C55D-AD1663CD0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521" y="1715609"/>
            <a:ext cx="4136995" cy="412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19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38C5B-B67E-AD31-0D1A-C570222F6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232"/>
            <a:ext cx="10515600" cy="1325563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Optimization </a:t>
            </a:r>
            <a:endParaRPr lang="en-US" b="1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C9B72-D780-83D1-D44B-19BE3AECD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000"/>
            <a:ext cx="6005523" cy="498407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>
                <a:latin typeface="Times New Roman"/>
                <a:cs typeface="Times New Roman"/>
              </a:rPr>
              <a:t>Multithreading (MT)</a:t>
            </a:r>
            <a:endParaRPr lang="en-US" sz="2400">
              <a:latin typeface="Times New Roman"/>
              <a:ea typeface="Source Sans Pro"/>
              <a:cs typeface="Times New Roman"/>
            </a:endParaRPr>
          </a:p>
          <a:p>
            <a:pPr>
              <a:buFont typeface="Wingdings"/>
              <a:buChar char="q"/>
            </a:pPr>
            <a:r>
              <a:rPr lang="en-US" sz="2000">
                <a:latin typeface="Times New Roman"/>
                <a:ea typeface="+mn-lt"/>
                <a:cs typeface="Times New Roman"/>
              </a:rPr>
              <a:t> Divides image processing work across multiple CPU threads </a:t>
            </a:r>
            <a:endParaRPr lang="en-US" sz="2000">
              <a:latin typeface="Times New Roman"/>
              <a:ea typeface="Source Sans Pro"/>
              <a:cs typeface="Times New Roman"/>
            </a:endParaRPr>
          </a:p>
          <a:p>
            <a:pPr>
              <a:buFont typeface="Wingdings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 Processes different parts of the image simultaneously </a:t>
            </a:r>
            <a:endParaRPr lang="en-US" sz="2000">
              <a:latin typeface="Times New Roman"/>
              <a:ea typeface="Source Sans Pro"/>
              <a:cs typeface="Times New Roman"/>
            </a:endParaRPr>
          </a:p>
          <a:p>
            <a:pPr>
              <a:buFont typeface="Wingdings"/>
              <a:buChar char="q"/>
            </a:pPr>
            <a:r>
              <a:rPr lang="en-US" sz="2000">
                <a:latin typeface="Times New Roman"/>
                <a:ea typeface="+mn-lt"/>
                <a:cs typeface="Times New Roman"/>
              </a:rPr>
              <a:t> Reduces overall execution time</a:t>
            </a:r>
            <a:endParaRPr lang="en-US" sz="2000">
              <a:latin typeface="Times New Roman"/>
              <a:ea typeface="Source Sans Pro"/>
              <a:cs typeface="Times New Roman"/>
            </a:endParaRPr>
          </a:p>
          <a:p>
            <a:pPr>
              <a:buFont typeface="Wingdings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Achieves significant speed improvement (</a:t>
            </a:r>
            <a:r>
              <a:rPr lang="en-US" sz="2000">
                <a:latin typeface="Times New Roman"/>
                <a:ea typeface="+mn-lt"/>
                <a:cs typeface="Times New Roman"/>
              </a:rPr>
              <a:t>up to 10x speedup)</a:t>
            </a:r>
            <a:endParaRPr lang="en-US" sz="2000">
              <a:latin typeface="Times New Roman"/>
              <a:cs typeface="Times New Roman"/>
            </a:endParaRPr>
          </a:p>
          <a:p>
            <a:pPr>
              <a:buFont typeface="Wingdings"/>
              <a:buChar char="q"/>
            </a:pPr>
            <a:endParaRPr lang="en-US" sz="2000" b="1" dirty="0">
              <a:ea typeface="Source Sans Pro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Contiguous memory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layout improves cache </a:t>
            </a:r>
            <a:r>
              <a:rPr lang="en-US" sz="2000">
                <a:latin typeface="Times New Roman"/>
                <a:ea typeface="+mn-lt"/>
                <a:cs typeface="Times New Roman"/>
              </a:rPr>
              <a:t>locality. This reduces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cache misses and enhances performance during parallel processing</a:t>
            </a:r>
            <a:endParaRPr lang="en-US" sz="20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grid of numbers and lines&#10;&#10;AI-generated content may be incorrect.">
            <a:extLst>
              <a:ext uri="{FF2B5EF4-FFF2-40B4-BE49-F238E27FC236}">
                <a16:creationId xmlns:a16="http://schemas.microsoft.com/office/drawing/2014/main" id="{9D69062E-715D-8410-788C-CEC39E19D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022" y="1394460"/>
            <a:ext cx="5537835" cy="405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964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36BD6-9293-93E4-1F30-343B99C17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821"/>
            <a:ext cx="10515600" cy="1325563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Performance &amp; Benchmarking</a:t>
            </a:r>
            <a:endParaRPr lang="en-US" b="1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988C22-B260-4658-6D93-9C3F5FF576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513118"/>
              </p:ext>
            </p:extLst>
          </p:nvPr>
        </p:nvGraphicFramePr>
        <p:xfrm>
          <a:off x="836839" y="1496785"/>
          <a:ext cx="10515600" cy="391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392031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014115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346976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81002847"/>
                    </a:ext>
                  </a:extLst>
                </a:gridCol>
              </a:tblGrid>
              <a:tr h="489428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Basic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MT (8 threads)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MT (16 threads)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682545"/>
                  </a:ext>
                </a:extLst>
              </a:tr>
              <a:tr h="489428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Bilinear Interpolation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</a:rPr>
                        <a:t>0.796872 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0.132289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  <a:cs typeface="Times New Roman"/>
                        </a:rPr>
                        <a:t>0.079367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111128"/>
                  </a:ext>
                </a:extLst>
              </a:tr>
              <a:tr h="489428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Lanczos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</a:rPr>
                        <a:t>9.550705 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1.648525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  <a:cs typeface="Times New Roman"/>
                        </a:rPr>
                        <a:t>1.204690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556504"/>
                  </a:ext>
                </a:extLst>
              </a:tr>
              <a:tr h="4894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Median Filter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</a:rPr>
                        <a:t>94.594565 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13.440227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  <a:cs typeface="Times New Roman"/>
                        </a:rPr>
                        <a:t>9.346646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612911"/>
                  </a:ext>
                </a:extLst>
              </a:tr>
              <a:tr h="4894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Non-Local Means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</a:rPr>
                        <a:t>2861.486949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658.994235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  <a:cs typeface="Times New Roman"/>
                        </a:rPr>
                        <a:t>464.183417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528594"/>
                  </a:ext>
                </a:extLst>
              </a:tr>
              <a:tr h="4894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Unsharp Masking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</a:rPr>
                        <a:t>3.525117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0.652248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  <a:cs typeface="Times New Roman"/>
                        </a:rPr>
                        <a:t>0.574929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77224"/>
                  </a:ext>
                </a:extLst>
              </a:tr>
              <a:tr h="4894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Laplacian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</a:rPr>
                        <a:t>2.341146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0.532913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  <a:cs typeface="Times New Roman"/>
                        </a:rPr>
                        <a:t>0.424064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783155"/>
                  </a:ext>
                </a:extLst>
              </a:tr>
              <a:tr h="4894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Sobel Operator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</a:rPr>
                        <a:t>4.389104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0.839225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  <a:cs typeface="Times New Roman"/>
                        </a:rPr>
                        <a:t>0.608131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112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56CC5F3-7BEF-7733-EB8E-1E739F8748CD}"/>
              </a:ext>
            </a:extLst>
          </p:cNvPr>
          <p:cNvSpPr txBox="1"/>
          <p:nvPr/>
        </p:nvSpPr>
        <p:spPr>
          <a:xfrm>
            <a:off x="836995" y="5697354"/>
            <a:ext cx="887176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-US" sz="2000">
                <a:latin typeface="Times New Roman"/>
                <a:ea typeface="Source Sans Pro"/>
                <a:cs typeface="Times New Roman"/>
              </a:rPr>
              <a:t>All algorithms are tested with </a:t>
            </a:r>
            <a:r>
              <a:rPr lang="en-US" sz="2000" b="1">
                <a:latin typeface="Times New Roman"/>
                <a:ea typeface="Source Sans Pro"/>
                <a:cs typeface="Times New Roman"/>
              </a:rPr>
              <a:t>10,000 x 10,000 resolution</a:t>
            </a:r>
            <a:r>
              <a:rPr lang="en-US" sz="2000">
                <a:latin typeface="Times New Roman"/>
                <a:ea typeface="Source Sans Pro"/>
                <a:cs typeface="Times New Roman"/>
              </a:rPr>
              <a:t> images</a:t>
            </a:r>
          </a:p>
        </p:txBody>
      </p:sp>
    </p:spTree>
    <p:extLst>
      <p:ext uri="{BB962C8B-B14F-4D97-AF65-F5344CB8AC3E}">
        <p14:creationId xmlns:p14="http://schemas.microsoft.com/office/powerpoint/2010/main" val="1782111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839D2-4023-E8EE-96C0-58906864E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Conclusion &amp; Challenges</a:t>
            </a:r>
            <a:endParaRPr lang="en-US" b="1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CE744-3DB0-A16F-22DD-DD97D699E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dirty="0"/>
              <a:t> </a:t>
            </a:r>
            <a:r>
              <a:rPr lang="en-US" sz="2000" b="1">
                <a:latin typeface="Times New Roman"/>
                <a:cs typeface="Times New Roman"/>
              </a:rPr>
              <a:t>Conclusion</a:t>
            </a:r>
            <a:endParaRPr lang="en-US" sz="2000" b="1">
              <a:latin typeface="Times New Roman"/>
              <a:ea typeface="Source Sans Pro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Successfully implemented multiple image processing features in C </a:t>
            </a:r>
            <a:endParaRPr lang="en-US" sz="2000">
              <a:latin typeface="Times New Roman"/>
              <a:ea typeface="Source Sans Pro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Improved image quality using advanced algorithms</a:t>
            </a:r>
            <a:endParaRPr lang="en-US" sz="2000">
              <a:latin typeface="Times New Roman"/>
              <a:ea typeface="Source Sans Pro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With the help of data </a:t>
            </a:r>
            <a:r>
              <a:rPr lang="en-US" sz="2000">
                <a:latin typeface="Times New Roman"/>
                <a:ea typeface="+mn-lt"/>
                <a:cs typeface="Times New Roman"/>
              </a:rPr>
              <a:t>parallelism achieved significant performance improvement </a:t>
            </a:r>
            <a:endParaRPr lang="en-US" sz="2000">
              <a:latin typeface="Times New Roman"/>
              <a:ea typeface="Source Sans Pro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Built a system capable of both quality enhancement and performance benchmarking</a:t>
            </a:r>
            <a:endParaRPr lang="en-US" sz="20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000" b="1">
                <a:latin typeface="Times New Roman"/>
                <a:cs typeface="Times New Roman"/>
              </a:rPr>
              <a:t>Challenges</a:t>
            </a:r>
            <a:endParaRPr lang="en-US" sz="2000">
              <a:latin typeface="Times New Roman"/>
              <a:ea typeface="Source Sans Pro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Efficient memory management in C during image processing </a:t>
            </a:r>
            <a:endParaRPr lang="en-US" sz="2000">
              <a:latin typeface="Times New Roman"/>
              <a:ea typeface="Source Sans Pro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Synchronization and coordination in multithreaded processing </a:t>
            </a:r>
            <a:endParaRPr lang="en-US" sz="2000">
              <a:latin typeface="Times New Roman"/>
              <a:ea typeface="Source Sans Pro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Knowing when to lock a variable and when to share it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Balancing performance improvement with code maintainability</a:t>
            </a: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865581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32" name="Oval 431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33" name="Rectangle 432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tx1"/>
          </a:solidFill>
        </p:grpSpPr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437" name="Freeform: Shape 436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10634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Freeform: Shape 437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1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9" name="Freeform: Shape 438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1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D444F-E4D1-AA51-B66F-72FF7725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409" y="895483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kern="1200" cap="all" spc="1500" baseline="0" dirty="0">
                <a:latin typeface="Times New Roman"/>
                <a:ea typeface="Source Sans Pro SemiBold"/>
                <a:cs typeface="Times New Roman"/>
              </a:rPr>
              <a:t>Thank you</a:t>
            </a:r>
          </a:p>
        </p:txBody>
      </p:sp>
      <p:sp>
        <p:nvSpPr>
          <p:cNvPr id="44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41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442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45" name="Oval 444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46" name="Oval 445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47" name="Freeform: Shape 446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8" name="Freeform: Shape 447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8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939412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VTI">
  <a:themeElements>
    <a:clrScheme name="Custom 15">
      <a:dk1>
        <a:sysClr val="windowText" lastClr="000000"/>
      </a:dk1>
      <a:lt1>
        <a:sysClr val="window" lastClr="FFFFFF"/>
      </a:lt1>
      <a:dk2>
        <a:srgbClr val="2D2D2D"/>
      </a:dk2>
      <a:lt2>
        <a:srgbClr val="F3FFF8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VTI" id="{A7F40C41-3FB2-45B0-B0D6-DFB7FDD9B7AD}" vid="{C49381A0-09CD-46EE-B141-E2CDD87ABF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FunkyShapesVTI</vt:lpstr>
      <vt:lpstr>Software Project Lab - 01</vt:lpstr>
      <vt:lpstr>Project Title – Pixel++</vt:lpstr>
      <vt:lpstr>Project Overview</vt:lpstr>
      <vt:lpstr>Project Evolution</vt:lpstr>
      <vt:lpstr>Algorithm Overview</vt:lpstr>
      <vt:lpstr>Results (Denoising)</vt:lpstr>
      <vt:lpstr>Results (Edge Detection)</vt:lpstr>
      <vt:lpstr>Optimization </vt:lpstr>
      <vt:lpstr>Performance &amp; Benchmarking</vt:lpstr>
      <vt:lpstr>Conclusion &amp; Challenges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1258</cp:revision>
  <dcterms:created xsi:type="dcterms:W3CDTF">2026-01-14T18:43:47Z</dcterms:created>
  <dcterms:modified xsi:type="dcterms:W3CDTF">2026-04-22T08:08:06Z</dcterms:modified>
</cp:coreProperties>
</file>